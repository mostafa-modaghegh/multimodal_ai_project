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media/image12.jpg" ContentType="image/unknown"/>
  <Override PartName="/ppt/media/image16.jpg" ContentType="image/unknown"/>
  <Override PartName="/ppt/media/image20.jpg" ContentType="image/unknown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72" r:id="rId1"/>
  </p:sldMasterIdLst>
  <p:notesMasterIdLst>
    <p:notesMasterId r:id="rId21"/>
  </p:notesMasterIdLst>
  <p:sldIdLst>
    <p:sldId id="413" r:id="rId2"/>
    <p:sldId id="451" r:id="rId3"/>
    <p:sldId id="452" r:id="rId4"/>
    <p:sldId id="453" r:id="rId5"/>
    <p:sldId id="454" r:id="rId6"/>
    <p:sldId id="455" r:id="rId7"/>
    <p:sldId id="456" r:id="rId8"/>
    <p:sldId id="457" r:id="rId9"/>
    <p:sldId id="458" r:id="rId10"/>
    <p:sldId id="459" r:id="rId11"/>
    <p:sldId id="460" r:id="rId12"/>
    <p:sldId id="462" r:id="rId13"/>
    <p:sldId id="463" r:id="rId14"/>
    <p:sldId id="464" r:id="rId15"/>
    <p:sldId id="465" r:id="rId16"/>
    <p:sldId id="466" r:id="rId17"/>
    <p:sldId id="467" r:id="rId18"/>
    <p:sldId id="469" r:id="rId19"/>
    <p:sldId id="450" r:id="rId20"/>
  </p:sldIdLst>
  <p:sldSz cx="9144000" cy="5143500" type="screen16x9"/>
  <p:notesSz cx="6858000" cy="9144000"/>
  <p:embeddedFontLst>
    <p:embeddedFont>
      <p:font typeface="Aharoni" panose="02010803020104030203" pitchFamily="2" charset="-79"/>
      <p:bold r:id="rId22"/>
    </p:embeddedFont>
    <p:embeddedFont>
      <p:font typeface="Aptos Narrow" panose="020B0004020202020204" pitchFamily="34" charset="0"/>
      <p:regular r:id="rId23"/>
      <p:bold r:id="rId24"/>
      <p:italic r:id="rId25"/>
      <p:boldItalic r:id="rId26"/>
    </p:embeddedFont>
    <p:embeddedFont>
      <p:font typeface="Arial Black" panose="020B0A04020102020204" pitchFamily="34" charset="0"/>
      <p:bold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Khmer UI" panose="020B0502040204020203" pitchFamily="34" charset="0"/>
      <p:regular r:id="rId32"/>
      <p:bold r:id="rId33"/>
    </p:embeddedFont>
    <p:embeddedFont>
      <p:font typeface="Montserrat" panose="00000500000000000000" pitchFamily="2" charset="0"/>
      <p:regular r:id="rId34"/>
      <p:bold r:id="rId35"/>
      <p:italic r:id="rId36"/>
      <p:boldItalic r:id="rId37"/>
    </p:embeddedFont>
    <p:embeddedFont>
      <p:font typeface="Montserrat ExtraBold" panose="00000900000000000000" pitchFamily="2" charset="0"/>
      <p:bold r:id="rId38"/>
      <p:boldItalic r:id="rId39"/>
    </p:embeddedFont>
    <p:embeddedFont>
      <p:font typeface="Montserrat ExtraLight" panose="00000300000000000000" pitchFamily="2" charset="0"/>
      <p:regular r:id="rId40"/>
      <p:italic r:id="rId41"/>
    </p:embeddedFont>
    <p:embeddedFont>
      <p:font typeface="Posterama" panose="020B0504020200020000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8B"/>
    <a:srgbClr val="72A700"/>
    <a:srgbClr val="F9F488"/>
    <a:srgbClr val="FFE6C5"/>
    <a:srgbClr val="FFAE43"/>
    <a:srgbClr val="85D5E6"/>
    <a:srgbClr val="FFD074"/>
    <a:srgbClr val="001631"/>
    <a:srgbClr val="E97132"/>
    <a:srgbClr val="747A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9" autoAdjust="0"/>
    <p:restoredTop sz="96323" autoAdjust="0"/>
  </p:normalViewPr>
  <p:slideViewPr>
    <p:cSldViewPr snapToGrid="0">
      <p:cViewPr varScale="1">
        <p:scale>
          <a:sx n="130" d="100"/>
          <a:sy n="130" d="100"/>
        </p:scale>
        <p:origin x="30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font" Target="fonts/font2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font" Target="fonts/font2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font" Target="fonts/font2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333E3-72D9-4F8D-8968-0C5D8F10734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271D7-2488-401D-96D1-EFC76CE6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4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457B78B-8EB0-26C4-34D1-4BA9B7FA54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79693BF6-B94C-D376-1789-A93C44ABD66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cxnSp>
        <p:nvCxnSpPr>
          <p:cNvPr id="5" name="Google Shape;165;p38">
            <a:extLst>
              <a:ext uri="{FF2B5EF4-FFF2-40B4-BE49-F238E27FC236}">
                <a16:creationId xmlns:a16="http://schemas.microsoft.com/office/drawing/2014/main" id="{6958F97A-D385-638A-6C5B-8EC5D1715C4C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7" name="TextBox 6"/>
          <p:cNvSpPr txBox="1"/>
          <p:nvPr userDrawn="1"/>
        </p:nvSpPr>
        <p:spPr>
          <a:xfrm>
            <a:off x="3358655" y="4209786"/>
            <a:ext cx="2578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Summer 2026 _ University of Qom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Khmer UI" pitchFamily="34" charset="0"/>
              <a:cs typeface="Khmer UI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4F7C34-524F-E67B-099F-F68D75C71D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423" b="92629" l="9980" r="89817">
                        <a14:foregroundMark x1="72709" y1="15479" x2="72709" y2="15479"/>
                        <a14:foregroundMark x1="74338" y1="21130" x2="74338" y2="21130"/>
                        <a14:foregroundMark x1="78615" y1="25799" x2="78615" y2="25799"/>
                        <a14:foregroundMark x1="85743" y1="33170" x2="85743" y2="33170"/>
                        <a14:foregroundMark x1="80244" y1="33415" x2="80244" y2="33415"/>
                        <a14:foregroundMark x1="75560" y1="36609" x2="75560" y2="36609"/>
                        <a14:foregroundMark x1="28921" y1="16953" x2="28921" y2="16953"/>
                        <a14:foregroundMark x1="27088" y1="23587" x2="27088" y2="23587"/>
                        <a14:foregroundMark x1="22811" y1="27764" x2="22811" y2="27764"/>
                        <a14:foregroundMark x1="13035" y1="34644" x2="13035" y2="34644"/>
                        <a14:foregroundMark x1="18941" y1="34398" x2="18941" y2="34398"/>
                        <a14:foregroundMark x1="24847" y1="36855" x2="24847" y2="36855"/>
                        <a14:foregroundMark x1="44807" y1="11548" x2="44807" y2="11548"/>
                        <a14:foregroundMark x1="41955" y1="10811" x2="41955" y2="10811"/>
                        <a14:foregroundMark x1="49491" y1="4668" x2="49491" y2="4668"/>
                        <a14:foregroundMark x1="56212" y1="11057" x2="56212" y2="11057"/>
                        <a14:foregroundMark x1="14053" y1="45455" x2="14053" y2="45455"/>
                        <a14:foregroundMark x1="12831" y1="48157" x2="12831" y2="48157"/>
                        <a14:foregroundMark x1="11405" y1="48894" x2="11405" y2="48894"/>
                        <a14:foregroundMark x1="12831" y1="47912" x2="12831" y2="47912"/>
                        <a14:foregroundMark x1="13035" y1="47174" x2="13035" y2="47174"/>
                        <a14:foregroundMark x1="84725" y1="47174" x2="84725" y2="47174"/>
                        <a14:foregroundMark x1="79430" y1="57248" x2="79430" y2="57248"/>
                        <a14:foregroundMark x1="79837" y1="75184" x2="79837" y2="75184"/>
                        <a14:foregroundMark x1="74745" y1="77396" x2="74745" y2="77396"/>
                        <a14:foregroundMark x1="73523" y1="81081" x2="73523" y2="81081"/>
                        <a14:foregroundMark x1="71487" y1="77887" x2="71487" y2="77887"/>
                        <a14:foregroundMark x1="69246" y1="80098" x2="69246" y2="80098"/>
                        <a14:foregroundMark x1="67006" y1="82064" x2="67006" y2="82064"/>
                        <a14:foregroundMark x1="64969" y1="83292" x2="64969" y2="83292"/>
                        <a14:foregroundMark x1="51120" y1="92629" x2="51120" y2="92629"/>
                        <a14:foregroundMark x1="36660" y1="91400" x2="36660" y2="91400"/>
                        <a14:foregroundMark x1="31772" y1="86978" x2="31772" y2="86978"/>
                        <a14:foregroundMark x1="28106" y1="82801" x2="28106" y2="82801"/>
                        <a14:foregroundMark x1="29735" y1="84275" x2="29735" y2="84275"/>
                        <a14:foregroundMark x1="17515" y1="77887" x2="17515" y2="77887"/>
                        <a14:backgroundMark x1="37271" y1="29484" x2="37271" y2="29484"/>
                        <a14:backgroundMark x1="41548" y1="41032" x2="41548" y2="41032"/>
                        <a14:backgroundMark x1="38289" y1="41769" x2="38289" y2="41769"/>
                        <a14:backgroundMark x1="38697" y1="41278" x2="38697" y2="41278"/>
                        <a14:backgroundMark x1="37475" y1="39312" x2="37475" y2="39312"/>
                        <a14:backgroundMark x1="35642" y1="36118" x2="35642" y2="36118"/>
                        <a14:backgroundMark x1="88187" y1="46929" x2="88187" y2="46929"/>
                        <a14:backgroundMark x1="86762" y1="46192" x2="86762" y2="46192"/>
                        <a14:backgroundMark x1="84521" y1="45209" x2="84521" y2="45209"/>
                        <a14:backgroundMark x1="58452" y1="50860" x2="58452" y2="50860"/>
                        <a14:backgroundMark x1="14868" y1="42752" x2="14868" y2="42752"/>
                        <a14:backgroundMark x1="12220" y1="41769" x2="12220" y2="41769"/>
                        <a14:backgroundMark x1="14257" y1="43735" x2="14257" y2="43735"/>
                        <a14:backgroundMark x1="13442" y1="44226" x2="13442" y2="44226"/>
                        <a14:backgroundMark x1="13442" y1="44717" x2="13442" y2="44717"/>
                        <a14:backgroundMark x1="11935" y1="48157" x2="11813" y2="48403"/>
                        <a14:backgroundMark x1="12057" y1="47912" x2="11935" y2="48157"/>
                        <a14:backgroundMark x1="12424" y1="47174" x2="12057" y2="47912"/>
                        <a14:backgroundMark x1="13035" y1="45946" x2="12424" y2="47174"/>
                        <a14:backgroundMark x1="11405" y1="42506" x2="11405" y2="42506"/>
                        <a14:backgroundMark x1="17312" y1="75676" x2="17312" y2="75676"/>
                        <a14:backgroundMark x1="32179" y1="86978" x2="32179" y2="86978"/>
                        <a14:backgroundMark x1="36049" y1="90663" x2="36049" y2="90663"/>
                        <a14:backgroundMark x1="10794" y1="47912" x2="10794" y2="47912"/>
                      </a14:backgroundRemoval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657" y="4321559"/>
            <a:ext cx="797388" cy="66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2272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 -No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7A11C6-19AA-3E44-58A7-C914B018C1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6" name="Google Shape;165;p38">
            <a:extLst>
              <a:ext uri="{FF2B5EF4-FFF2-40B4-BE49-F238E27FC236}">
                <a16:creationId xmlns:a16="http://schemas.microsoft.com/office/drawing/2014/main" id="{1E131CE8-B620-0118-54DC-E0B7B5A813DD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1" name="Google Shape;20;p5">
            <a:extLst>
              <a:ext uri="{FF2B5EF4-FFF2-40B4-BE49-F238E27FC236}">
                <a16:creationId xmlns:a16="http://schemas.microsoft.com/office/drawing/2014/main" id="{EA059631-C19E-991D-6D01-BE23FB703388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7DD3F9-A526-1A32-3965-B8ABFC6D86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423" b="92629" l="9980" r="89817">
                        <a14:foregroundMark x1="72709" y1="15479" x2="72709" y2="15479"/>
                        <a14:foregroundMark x1="74338" y1="21130" x2="74338" y2="21130"/>
                        <a14:foregroundMark x1="78615" y1="25799" x2="78615" y2="25799"/>
                        <a14:foregroundMark x1="85743" y1="33170" x2="85743" y2="33170"/>
                        <a14:foregroundMark x1="80244" y1="33415" x2="80244" y2="33415"/>
                        <a14:foregroundMark x1="75560" y1="36609" x2="75560" y2="36609"/>
                        <a14:foregroundMark x1="28921" y1="16953" x2="28921" y2="16953"/>
                        <a14:foregroundMark x1="27088" y1="23587" x2="27088" y2="23587"/>
                        <a14:foregroundMark x1="22811" y1="27764" x2="22811" y2="27764"/>
                        <a14:foregroundMark x1="13035" y1="34644" x2="13035" y2="34644"/>
                        <a14:foregroundMark x1="18941" y1="34398" x2="18941" y2="34398"/>
                        <a14:foregroundMark x1="24847" y1="36855" x2="24847" y2="36855"/>
                        <a14:foregroundMark x1="44807" y1="11548" x2="44807" y2="11548"/>
                        <a14:foregroundMark x1="41955" y1="10811" x2="41955" y2="10811"/>
                        <a14:foregroundMark x1="49491" y1="4668" x2="49491" y2="4668"/>
                        <a14:foregroundMark x1="56212" y1="11057" x2="56212" y2="11057"/>
                        <a14:foregroundMark x1="14053" y1="45455" x2="14053" y2="45455"/>
                        <a14:foregroundMark x1="12831" y1="48157" x2="12831" y2="48157"/>
                        <a14:foregroundMark x1="11405" y1="48894" x2="11405" y2="48894"/>
                        <a14:foregroundMark x1="12831" y1="47912" x2="12831" y2="47912"/>
                        <a14:foregroundMark x1="13035" y1="47174" x2="13035" y2="47174"/>
                        <a14:foregroundMark x1="84725" y1="47174" x2="84725" y2="47174"/>
                        <a14:foregroundMark x1="79430" y1="57248" x2="79430" y2="57248"/>
                        <a14:foregroundMark x1="79837" y1="75184" x2="79837" y2="75184"/>
                        <a14:foregroundMark x1="74745" y1="77396" x2="74745" y2="77396"/>
                        <a14:foregroundMark x1="73523" y1="81081" x2="73523" y2="81081"/>
                        <a14:foregroundMark x1="71487" y1="77887" x2="71487" y2="77887"/>
                        <a14:foregroundMark x1="69246" y1="80098" x2="69246" y2="80098"/>
                        <a14:foregroundMark x1="67006" y1="82064" x2="67006" y2="82064"/>
                        <a14:foregroundMark x1="64969" y1="83292" x2="64969" y2="83292"/>
                        <a14:foregroundMark x1="51120" y1="92629" x2="51120" y2="92629"/>
                        <a14:foregroundMark x1="36660" y1="91400" x2="36660" y2="91400"/>
                        <a14:foregroundMark x1="31772" y1="86978" x2="31772" y2="86978"/>
                        <a14:foregroundMark x1="28106" y1="82801" x2="28106" y2="82801"/>
                        <a14:foregroundMark x1="29735" y1="84275" x2="29735" y2="84275"/>
                        <a14:foregroundMark x1="17515" y1="77887" x2="17515" y2="77887"/>
                        <a14:backgroundMark x1="37271" y1="29484" x2="37271" y2="29484"/>
                        <a14:backgroundMark x1="41548" y1="41032" x2="41548" y2="41032"/>
                        <a14:backgroundMark x1="38289" y1="41769" x2="38289" y2="41769"/>
                        <a14:backgroundMark x1="38697" y1="41278" x2="38697" y2="41278"/>
                        <a14:backgroundMark x1="37475" y1="39312" x2="37475" y2="39312"/>
                        <a14:backgroundMark x1="35642" y1="36118" x2="35642" y2="36118"/>
                        <a14:backgroundMark x1="88187" y1="46929" x2="88187" y2="46929"/>
                        <a14:backgroundMark x1="86762" y1="46192" x2="86762" y2="46192"/>
                        <a14:backgroundMark x1="84521" y1="45209" x2="84521" y2="45209"/>
                        <a14:backgroundMark x1="58452" y1="50860" x2="58452" y2="50860"/>
                        <a14:backgroundMark x1="14868" y1="42752" x2="14868" y2="42752"/>
                        <a14:backgroundMark x1="12220" y1="41769" x2="12220" y2="41769"/>
                        <a14:backgroundMark x1="14257" y1="43735" x2="14257" y2="43735"/>
                        <a14:backgroundMark x1="13442" y1="44226" x2="13442" y2="44226"/>
                        <a14:backgroundMark x1="13442" y1="44717" x2="13442" y2="44717"/>
                        <a14:backgroundMark x1="11935" y1="48157" x2="11813" y2="48403"/>
                        <a14:backgroundMark x1="12057" y1="47912" x2="11935" y2="48157"/>
                        <a14:backgroundMark x1="12424" y1="47174" x2="12057" y2="47912"/>
                        <a14:backgroundMark x1="13035" y1="45946" x2="12424" y2="47174"/>
                        <a14:backgroundMark x1="11405" y1="42506" x2="11405" y2="42506"/>
                        <a14:backgroundMark x1="17312" y1="75676" x2="17312" y2="75676"/>
                        <a14:backgroundMark x1="32179" y1="86978" x2="32179" y2="86978"/>
                        <a14:backgroundMark x1="36049" y1="90663" x2="36049" y2="90663"/>
                        <a14:backgroundMark x1="10794" y1="47912" x2="10794" y2="47912"/>
                      </a14:backgroundRemoval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657" y="4321559"/>
            <a:ext cx="797388" cy="66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276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 preserve="1" userDrawn="1">
  <p:cSld name="Section 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C644-0069-AB3E-B406-3479FF69F9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2249400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3" name="Google Shape;165;p38">
            <a:extLst>
              <a:ext uri="{FF2B5EF4-FFF2-40B4-BE49-F238E27FC236}">
                <a16:creationId xmlns:a16="http://schemas.microsoft.com/office/drawing/2014/main" id="{502F4F22-45C1-4753-A4B4-178CCF92C488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941366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2ECA98E3-F378-0703-E813-0F1EBA84AEE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3002460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4598094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165;p38">
            <a:extLst>
              <a:ext uri="{FF2B5EF4-FFF2-40B4-BE49-F238E27FC236}">
                <a16:creationId xmlns:a16="http://schemas.microsoft.com/office/drawing/2014/main" id="{5FB02F9F-884B-4495-B25D-AB2D27F8BDA9}"/>
              </a:ext>
            </a:extLst>
          </p:cNvPr>
          <p:cNvCxnSpPr>
            <a:cxnSpLocks/>
          </p:cNvCxnSpPr>
          <p:nvPr userDrawn="1"/>
        </p:nvCxnSpPr>
        <p:spPr>
          <a:xfrm>
            <a:off x="2651760" y="1303659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129877323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69930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C7409E-6039-5EDC-4EBC-7BD33E1F19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423" b="92629" l="9980" r="89817">
                        <a14:foregroundMark x1="72709" y1="15479" x2="72709" y2="15479"/>
                        <a14:foregroundMark x1="74338" y1="21130" x2="74338" y2="21130"/>
                        <a14:foregroundMark x1="78615" y1="25799" x2="78615" y2="25799"/>
                        <a14:foregroundMark x1="85743" y1="33170" x2="85743" y2="33170"/>
                        <a14:foregroundMark x1="80244" y1="33415" x2="80244" y2="33415"/>
                        <a14:foregroundMark x1="75560" y1="36609" x2="75560" y2="36609"/>
                        <a14:foregroundMark x1="28921" y1="16953" x2="28921" y2="16953"/>
                        <a14:foregroundMark x1="27088" y1="23587" x2="27088" y2="23587"/>
                        <a14:foregroundMark x1="22811" y1="27764" x2="22811" y2="27764"/>
                        <a14:foregroundMark x1="13035" y1="34644" x2="13035" y2="34644"/>
                        <a14:foregroundMark x1="18941" y1="34398" x2="18941" y2="34398"/>
                        <a14:foregroundMark x1="24847" y1="36855" x2="24847" y2="36855"/>
                        <a14:foregroundMark x1="44807" y1="11548" x2="44807" y2="11548"/>
                        <a14:foregroundMark x1="41955" y1="10811" x2="41955" y2="10811"/>
                        <a14:foregroundMark x1="49491" y1="4668" x2="49491" y2="4668"/>
                        <a14:foregroundMark x1="56212" y1="11057" x2="56212" y2="11057"/>
                        <a14:foregroundMark x1="14053" y1="45455" x2="14053" y2="45455"/>
                        <a14:foregroundMark x1="12831" y1="48157" x2="12831" y2="48157"/>
                        <a14:foregroundMark x1="11405" y1="48894" x2="11405" y2="48894"/>
                        <a14:foregroundMark x1="12831" y1="47912" x2="12831" y2="47912"/>
                        <a14:foregroundMark x1="13035" y1="47174" x2="13035" y2="47174"/>
                        <a14:foregroundMark x1="84725" y1="47174" x2="84725" y2="47174"/>
                        <a14:foregroundMark x1="79430" y1="57248" x2="79430" y2="57248"/>
                        <a14:foregroundMark x1="79837" y1="75184" x2="79837" y2="75184"/>
                        <a14:foregroundMark x1="74745" y1="77396" x2="74745" y2="77396"/>
                        <a14:foregroundMark x1="73523" y1="81081" x2="73523" y2="81081"/>
                        <a14:foregroundMark x1="71487" y1="77887" x2="71487" y2="77887"/>
                        <a14:foregroundMark x1="69246" y1="80098" x2="69246" y2="80098"/>
                        <a14:foregroundMark x1="67006" y1="82064" x2="67006" y2="82064"/>
                        <a14:foregroundMark x1="64969" y1="83292" x2="64969" y2="83292"/>
                        <a14:foregroundMark x1="51120" y1="92629" x2="51120" y2="92629"/>
                        <a14:foregroundMark x1="36660" y1="91400" x2="36660" y2="91400"/>
                        <a14:foregroundMark x1="31772" y1="86978" x2="31772" y2="86978"/>
                        <a14:foregroundMark x1="28106" y1="82801" x2="28106" y2="82801"/>
                        <a14:foregroundMark x1="29735" y1="84275" x2="29735" y2="84275"/>
                        <a14:foregroundMark x1="17515" y1="77887" x2="17515" y2="77887"/>
                        <a14:backgroundMark x1="37271" y1="29484" x2="37271" y2="29484"/>
                        <a14:backgroundMark x1="41548" y1="41032" x2="41548" y2="41032"/>
                        <a14:backgroundMark x1="38289" y1="41769" x2="38289" y2="41769"/>
                        <a14:backgroundMark x1="38697" y1="41278" x2="38697" y2="41278"/>
                        <a14:backgroundMark x1="37475" y1="39312" x2="37475" y2="39312"/>
                        <a14:backgroundMark x1="35642" y1="36118" x2="35642" y2="36118"/>
                        <a14:backgroundMark x1="88187" y1="46929" x2="88187" y2="46929"/>
                        <a14:backgroundMark x1="86762" y1="46192" x2="86762" y2="46192"/>
                        <a14:backgroundMark x1="84521" y1="45209" x2="84521" y2="45209"/>
                        <a14:backgroundMark x1="58452" y1="50860" x2="58452" y2="50860"/>
                        <a14:backgroundMark x1="14868" y1="42752" x2="14868" y2="42752"/>
                        <a14:backgroundMark x1="12220" y1="41769" x2="12220" y2="41769"/>
                        <a14:backgroundMark x1="14257" y1="43735" x2="14257" y2="43735"/>
                        <a14:backgroundMark x1="13442" y1="44226" x2="13442" y2="44226"/>
                        <a14:backgroundMark x1="13442" y1="44717" x2="13442" y2="44717"/>
                        <a14:backgroundMark x1="11935" y1="48157" x2="11813" y2="48403"/>
                        <a14:backgroundMark x1="12057" y1="47912" x2="11935" y2="48157"/>
                        <a14:backgroundMark x1="12424" y1="47174" x2="12057" y2="47912"/>
                        <a14:backgroundMark x1="13035" y1="45946" x2="12424" y2="47174"/>
                        <a14:backgroundMark x1="11405" y1="42506" x2="11405" y2="42506"/>
                        <a14:backgroundMark x1="17312" y1="75676" x2="17312" y2="75676"/>
                        <a14:backgroundMark x1="32179" y1="86978" x2="32179" y2="86978"/>
                        <a14:backgroundMark x1="36049" y1="90663" x2="36049" y2="90663"/>
                        <a14:backgroundMark x1="10794" y1="47912" x2="10794" y2="47912"/>
                      </a14:backgroundRemoval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18" y="4393148"/>
            <a:ext cx="698375" cy="57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40121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;p9">
            <a:extLst>
              <a:ext uri="{FF2B5EF4-FFF2-40B4-BE49-F238E27FC236}">
                <a16:creationId xmlns:a16="http://schemas.microsoft.com/office/drawing/2014/main" id="{EDCFF91D-84B0-43AC-0860-DF47CEB52A30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04612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5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sp>
        <p:nvSpPr>
          <p:cNvPr id="8" name="Google Shape;36;p10">
            <a:extLst>
              <a:ext uri="{FF2B5EF4-FFF2-40B4-BE49-F238E27FC236}">
                <a16:creationId xmlns:a16="http://schemas.microsoft.com/office/drawing/2014/main" id="{E5E23F22-CC2F-45A0-82E7-1BCE0E8AF20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04613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915234F-9F30-4B8E-821A-4CA11ECA768E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cxnSp>
        <p:nvCxnSpPr>
          <p:cNvPr id="10" name="Google Shape;281;p50">
            <a:extLst>
              <a:ext uri="{FF2B5EF4-FFF2-40B4-BE49-F238E27FC236}">
                <a16:creationId xmlns:a16="http://schemas.microsoft.com/office/drawing/2014/main" id="{CFD47C1A-B4E5-4665-8189-C28F3A9530A9}"/>
              </a:ext>
            </a:extLst>
          </p:cNvPr>
          <p:cNvCxnSpPr>
            <a:cxnSpLocks/>
          </p:cNvCxnSpPr>
          <p:nvPr userDrawn="1"/>
        </p:nvCxnSpPr>
        <p:spPr>
          <a:xfrm>
            <a:off x="463840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0268918-BF21-8132-A244-E75047ADBA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423" b="92629" l="9980" r="89817">
                        <a14:foregroundMark x1="72709" y1="15479" x2="72709" y2="15479"/>
                        <a14:foregroundMark x1="74338" y1="21130" x2="74338" y2="21130"/>
                        <a14:foregroundMark x1="78615" y1="25799" x2="78615" y2="25799"/>
                        <a14:foregroundMark x1="85743" y1="33170" x2="85743" y2="33170"/>
                        <a14:foregroundMark x1="80244" y1="33415" x2="80244" y2="33415"/>
                        <a14:foregroundMark x1="75560" y1="36609" x2="75560" y2="36609"/>
                        <a14:foregroundMark x1="28921" y1="16953" x2="28921" y2="16953"/>
                        <a14:foregroundMark x1="27088" y1="23587" x2="27088" y2="23587"/>
                        <a14:foregroundMark x1="22811" y1="27764" x2="22811" y2="27764"/>
                        <a14:foregroundMark x1="13035" y1="34644" x2="13035" y2="34644"/>
                        <a14:foregroundMark x1="18941" y1="34398" x2="18941" y2="34398"/>
                        <a14:foregroundMark x1="24847" y1="36855" x2="24847" y2="36855"/>
                        <a14:foregroundMark x1="44807" y1="11548" x2="44807" y2="11548"/>
                        <a14:foregroundMark x1="41955" y1="10811" x2="41955" y2="10811"/>
                        <a14:foregroundMark x1="49491" y1="4668" x2="49491" y2="4668"/>
                        <a14:foregroundMark x1="56212" y1="11057" x2="56212" y2="11057"/>
                        <a14:foregroundMark x1="14053" y1="45455" x2="14053" y2="45455"/>
                        <a14:foregroundMark x1="12831" y1="48157" x2="12831" y2="48157"/>
                        <a14:foregroundMark x1="11405" y1="48894" x2="11405" y2="48894"/>
                        <a14:foregroundMark x1="12831" y1="47912" x2="12831" y2="47912"/>
                        <a14:foregroundMark x1="13035" y1="47174" x2="13035" y2="47174"/>
                        <a14:foregroundMark x1="84725" y1="47174" x2="84725" y2="47174"/>
                        <a14:foregroundMark x1="79430" y1="57248" x2="79430" y2="57248"/>
                        <a14:foregroundMark x1="79837" y1="75184" x2="79837" y2="75184"/>
                        <a14:foregroundMark x1="74745" y1="77396" x2="74745" y2="77396"/>
                        <a14:foregroundMark x1="73523" y1="81081" x2="73523" y2="81081"/>
                        <a14:foregroundMark x1="71487" y1="77887" x2="71487" y2="77887"/>
                        <a14:foregroundMark x1="69246" y1="80098" x2="69246" y2="80098"/>
                        <a14:foregroundMark x1="67006" y1="82064" x2="67006" y2="82064"/>
                        <a14:foregroundMark x1="64969" y1="83292" x2="64969" y2="83292"/>
                        <a14:foregroundMark x1="51120" y1="92629" x2="51120" y2="92629"/>
                        <a14:foregroundMark x1="36660" y1="91400" x2="36660" y2="91400"/>
                        <a14:foregroundMark x1="31772" y1="86978" x2="31772" y2="86978"/>
                        <a14:foregroundMark x1="28106" y1="82801" x2="28106" y2="82801"/>
                        <a14:foregroundMark x1="29735" y1="84275" x2="29735" y2="84275"/>
                        <a14:foregroundMark x1="17515" y1="77887" x2="17515" y2="77887"/>
                        <a14:backgroundMark x1="37271" y1="29484" x2="37271" y2="29484"/>
                        <a14:backgroundMark x1="41548" y1="41032" x2="41548" y2="41032"/>
                        <a14:backgroundMark x1="38289" y1="41769" x2="38289" y2="41769"/>
                        <a14:backgroundMark x1="38697" y1="41278" x2="38697" y2="41278"/>
                        <a14:backgroundMark x1="37475" y1="39312" x2="37475" y2="39312"/>
                        <a14:backgroundMark x1="35642" y1="36118" x2="35642" y2="36118"/>
                        <a14:backgroundMark x1="88187" y1="46929" x2="88187" y2="46929"/>
                        <a14:backgroundMark x1="86762" y1="46192" x2="86762" y2="46192"/>
                        <a14:backgroundMark x1="84521" y1="45209" x2="84521" y2="45209"/>
                        <a14:backgroundMark x1="58452" y1="50860" x2="58452" y2="50860"/>
                        <a14:backgroundMark x1="14868" y1="42752" x2="14868" y2="42752"/>
                        <a14:backgroundMark x1="12220" y1="41769" x2="12220" y2="41769"/>
                        <a14:backgroundMark x1="14257" y1="43735" x2="14257" y2="43735"/>
                        <a14:backgroundMark x1="13442" y1="44226" x2="13442" y2="44226"/>
                        <a14:backgroundMark x1="13442" y1="44717" x2="13442" y2="44717"/>
                        <a14:backgroundMark x1="11935" y1="48157" x2="11813" y2="48403"/>
                        <a14:backgroundMark x1="12057" y1="47912" x2="11935" y2="48157"/>
                        <a14:backgroundMark x1="12424" y1="47174" x2="12057" y2="47912"/>
                        <a14:backgroundMark x1="13035" y1="45946" x2="12424" y2="47174"/>
                        <a14:backgroundMark x1="11405" y1="42506" x2="11405" y2="42506"/>
                        <a14:backgroundMark x1="17312" y1="75676" x2="17312" y2="75676"/>
                        <a14:backgroundMark x1="32179" y1="86978" x2="32179" y2="86978"/>
                        <a14:backgroundMark x1="36049" y1="90663" x2="36049" y2="90663"/>
                        <a14:backgroundMark x1="10794" y1="47912" x2="10794" y2="47912"/>
                      </a14:backgroundRemoval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18" y="4393148"/>
            <a:ext cx="698375" cy="578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9AE3B0-DC85-8F62-ECE0-E457BA348BB6}"/>
              </a:ext>
            </a:extLst>
          </p:cNvPr>
          <p:cNvSpPr txBox="1"/>
          <p:nvPr userDrawn="1"/>
        </p:nvSpPr>
        <p:spPr>
          <a:xfrm>
            <a:off x="869930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47887295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;p10">
            <a:extLst>
              <a:ext uri="{FF2B5EF4-FFF2-40B4-BE49-F238E27FC236}">
                <a16:creationId xmlns:a16="http://schemas.microsoft.com/office/drawing/2014/main" id="{EF0B4B41-AF40-DA43-6E3C-61199E9304A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96091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cxnSp>
        <p:nvCxnSpPr>
          <p:cNvPr id="7" name="Google Shape;281;p50">
            <a:extLst>
              <a:ext uri="{FF2B5EF4-FFF2-40B4-BE49-F238E27FC236}">
                <a16:creationId xmlns:a16="http://schemas.microsoft.com/office/drawing/2014/main" id="{4F9A1049-8CC2-6A1F-E4A6-E9662D06F4DB}"/>
              </a:ext>
            </a:extLst>
          </p:cNvPr>
          <p:cNvCxnSpPr>
            <a:cxnSpLocks/>
          </p:cNvCxnSpPr>
          <p:nvPr userDrawn="1"/>
        </p:nvCxnSpPr>
        <p:spPr>
          <a:xfrm>
            <a:off x="455318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32;p9">
            <a:extLst>
              <a:ext uri="{FF2B5EF4-FFF2-40B4-BE49-F238E27FC236}">
                <a16:creationId xmlns:a16="http://schemas.microsoft.com/office/drawing/2014/main" id="{331F55AD-2380-B771-54AC-716CF7C67EE7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96090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9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4312C8B-B25F-5EFE-01F3-544DA90E76DA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FE8B73-94AA-51E0-1F05-07A8192153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423" b="92629" l="9980" r="89817">
                        <a14:foregroundMark x1="72709" y1="15479" x2="72709" y2="15479"/>
                        <a14:foregroundMark x1="74338" y1="21130" x2="74338" y2="21130"/>
                        <a14:foregroundMark x1="78615" y1="25799" x2="78615" y2="25799"/>
                        <a14:foregroundMark x1="85743" y1="33170" x2="85743" y2="33170"/>
                        <a14:foregroundMark x1="80244" y1="33415" x2="80244" y2="33415"/>
                        <a14:foregroundMark x1="75560" y1="36609" x2="75560" y2="36609"/>
                        <a14:foregroundMark x1="28921" y1="16953" x2="28921" y2="16953"/>
                        <a14:foregroundMark x1="27088" y1="23587" x2="27088" y2="23587"/>
                        <a14:foregroundMark x1="22811" y1="27764" x2="22811" y2="27764"/>
                        <a14:foregroundMark x1="13035" y1="34644" x2="13035" y2="34644"/>
                        <a14:foregroundMark x1="18941" y1="34398" x2="18941" y2="34398"/>
                        <a14:foregroundMark x1="24847" y1="36855" x2="24847" y2="36855"/>
                        <a14:foregroundMark x1="44807" y1="11548" x2="44807" y2="11548"/>
                        <a14:foregroundMark x1="41955" y1="10811" x2="41955" y2="10811"/>
                        <a14:foregroundMark x1="49491" y1="4668" x2="49491" y2="4668"/>
                        <a14:foregroundMark x1="56212" y1="11057" x2="56212" y2="11057"/>
                        <a14:foregroundMark x1="14053" y1="45455" x2="14053" y2="45455"/>
                        <a14:foregroundMark x1="12831" y1="48157" x2="12831" y2="48157"/>
                        <a14:foregroundMark x1="11405" y1="48894" x2="11405" y2="48894"/>
                        <a14:foregroundMark x1="12831" y1="47912" x2="12831" y2="47912"/>
                        <a14:foregroundMark x1="13035" y1="47174" x2="13035" y2="47174"/>
                        <a14:foregroundMark x1="84725" y1="47174" x2="84725" y2="47174"/>
                        <a14:foregroundMark x1="79430" y1="57248" x2="79430" y2="57248"/>
                        <a14:foregroundMark x1="79837" y1="75184" x2="79837" y2="75184"/>
                        <a14:foregroundMark x1="74745" y1="77396" x2="74745" y2="77396"/>
                        <a14:foregroundMark x1="73523" y1="81081" x2="73523" y2="81081"/>
                        <a14:foregroundMark x1="71487" y1="77887" x2="71487" y2="77887"/>
                        <a14:foregroundMark x1="69246" y1="80098" x2="69246" y2="80098"/>
                        <a14:foregroundMark x1="67006" y1="82064" x2="67006" y2="82064"/>
                        <a14:foregroundMark x1="64969" y1="83292" x2="64969" y2="83292"/>
                        <a14:foregroundMark x1="51120" y1="92629" x2="51120" y2="92629"/>
                        <a14:foregroundMark x1="36660" y1="91400" x2="36660" y2="91400"/>
                        <a14:foregroundMark x1="31772" y1="86978" x2="31772" y2="86978"/>
                        <a14:foregroundMark x1="28106" y1="82801" x2="28106" y2="82801"/>
                        <a14:foregroundMark x1="29735" y1="84275" x2="29735" y2="84275"/>
                        <a14:foregroundMark x1="17515" y1="77887" x2="17515" y2="77887"/>
                        <a14:backgroundMark x1="37271" y1="29484" x2="37271" y2="29484"/>
                        <a14:backgroundMark x1="41548" y1="41032" x2="41548" y2="41032"/>
                        <a14:backgroundMark x1="38289" y1="41769" x2="38289" y2="41769"/>
                        <a14:backgroundMark x1="38697" y1="41278" x2="38697" y2="41278"/>
                        <a14:backgroundMark x1="37475" y1="39312" x2="37475" y2="39312"/>
                        <a14:backgroundMark x1="35642" y1="36118" x2="35642" y2="36118"/>
                        <a14:backgroundMark x1="88187" y1="46929" x2="88187" y2="46929"/>
                        <a14:backgroundMark x1="86762" y1="46192" x2="86762" y2="46192"/>
                        <a14:backgroundMark x1="84521" y1="45209" x2="84521" y2="45209"/>
                        <a14:backgroundMark x1="58452" y1="50860" x2="58452" y2="50860"/>
                        <a14:backgroundMark x1="14868" y1="42752" x2="14868" y2="42752"/>
                        <a14:backgroundMark x1="12220" y1="41769" x2="12220" y2="41769"/>
                        <a14:backgroundMark x1="14257" y1="43735" x2="14257" y2="43735"/>
                        <a14:backgroundMark x1="13442" y1="44226" x2="13442" y2="44226"/>
                        <a14:backgroundMark x1="13442" y1="44717" x2="13442" y2="44717"/>
                        <a14:backgroundMark x1="11935" y1="48157" x2="11813" y2="48403"/>
                        <a14:backgroundMark x1="12057" y1="47912" x2="11935" y2="48157"/>
                        <a14:backgroundMark x1="12424" y1="47174" x2="12057" y2="47912"/>
                        <a14:backgroundMark x1="13035" y1="45946" x2="12424" y2="47174"/>
                        <a14:backgroundMark x1="11405" y1="42506" x2="11405" y2="42506"/>
                        <a14:backgroundMark x1="17312" y1="75676" x2="17312" y2="75676"/>
                        <a14:backgroundMark x1="32179" y1="86978" x2="32179" y2="86978"/>
                        <a14:backgroundMark x1="36049" y1="90663" x2="36049" y2="90663"/>
                        <a14:backgroundMark x1="10794" y1="47912" x2="10794" y2="47912"/>
                      </a14:backgroundRemoval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18" y="4393148"/>
            <a:ext cx="698375" cy="578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2BC4D0-0DA7-7E73-EA5F-CA083D63A7C2}"/>
              </a:ext>
            </a:extLst>
          </p:cNvPr>
          <p:cNvSpPr txBox="1"/>
          <p:nvPr userDrawn="1"/>
        </p:nvSpPr>
        <p:spPr>
          <a:xfrm>
            <a:off x="869930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66192322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3356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2" r:id="rId1"/>
    <p:sldLayoutId id="2147483733" r:id="rId2"/>
    <p:sldLayoutId id="2147483736" r:id="rId3"/>
    <p:sldLayoutId id="2147483743" r:id="rId4"/>
    <p:sldLayoutId id="2147483738" r:id="rId5"/>
    <p:sldLayoutId id="2147483739" r:id="rId6"/>
    <p:sldLayoutId id="2147483741" r:id="rId7"/>
  </p:sldLayoutIdLst>
  <p:transition spd="slow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fi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A50E719-6280-2F6A-1CB5-EE96BDA04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VLM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5D47F06-3B94-947A-F241-7EBB8EF82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dirty="0"/>
              <a:t>Sayed Mostafa </a:t>
            </a:r>
            <a:r>
              <a:rPr lang="en-US" sz="1400" b="1" dirty="0" err="1"/>
              <a:t>Modaghegh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1287085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C9E0FC-37FC-C090-85C6-C8C2B209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E644F5-380E-E63A-CD71-79D33922A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92"/>
          <a:stretch>
            <a:fillRect/>
          </a:stretch>
        </p:blipFill>
        <p:spPr>
          <a:xfrm>
            <a:off x="1008269" y="2623153"/>
            <a:ext cx="2960076" cy="1474062"/>
          </a:xfrm>
          <a:prstGeom prst="rect">
            <a:avLst/>
          </a:prstGeom>
        </p:spPr>
      </p:pic>
      <p:sp>
        <p:nvSpPr>
          <p:cNvPr id="12" name="Subtitle 8">
            <a:extLst>
              <a:ext uri="{FF2B5EF4-FFF2-40B4-BE49-F238E27FC236}">
                <a16:creationId xmlns:a16="http://schemas.microsoft.com/office/drawing/2014/main" id="{739FB805-A68C-C239-7584-32068367D5B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3" y="918911"/>
            <a:ext cx="7985125" cy="1991458"/>
          </a:xfrm>
        </p:spPr>
        <p:txBody>
          <a:bodyPr/>
          <a:lstStyle/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dirty="0"/>
              <a:t>Computers can process images. 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dirty="0"/>
              <a:t>Computers can process natural language. 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dirty="0"/>
              <a:t>But images and language are fundamentally different modalities. 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dirty="0"/>
              <a:t>VLMs aim to connect these modalities.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1790F2-1475-DF71-E68F-AD2CAD46E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670" y="1996991"/>
            <a:ext cx="4055010" cy="272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59483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9C0F809-6495-629B-C9BC-EAF55B085F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600" dirty="0"/>
              <a:t>How can a machine understand an image?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5DAA7-9DAA-67B4-2762-AEE334C1339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2" y="1196425"/>
            <a:ext cx="7985378" cy="3005273"/>
          </a:xfrm>
        </p:spPr>
        <p:txBody>
          <a:bodyPr/>
          <a:lstStyle/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dirty="0"/>
              <a:t>Computer vision is a subfield of artificial intelligence 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dirty="0"/>
              <a:t>Process, analyze and interpret visual inputs such as images and videos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dirty="0"/>
              <a:t>An image is represented as numerical pixel values. 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dirty="0"/>
              <a:t>Computer Vision extracts meaningful visual representations from these pixels. 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dirty="0"/>
              <a:t>Traditional systems were usually designed for specific tasks.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dirty="0"/>
              <a:t>Classification / Detection / OCR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72E41F-212B-EC86-C120-16876ED2A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52438C-03AC-0B61-F5A6-FFC9C4373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723" y="2854675"/>
            <a:ext cx="4489497" cy="20610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05FE26-F555-BDC3-4F0A-21EEFF640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181" y="0"/>
            <a:ext cx="3789819" cy="158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300645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BA5EBCC-24A7-B9EE-F219-71EB177ABA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600" dirty="0"/>
              <a:t>How can a machine understand language?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CDE8B-AE5A-7437-F480-AE1B2120024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Natural language is sequential and symbolic. </a:t>
            </a:r>
          </a:p>
          <a:p>
            <a:r>
              <a:rPr lang="en-US" dirty="0"/>
              <a:t>NLP enable computers to understand and communicate with human language</a:t>
            </a:r>
          </a:p>
          <a:p>
            <a:r>
              <a:rPr lang="en-US" dirty="0"/>
              <a:t>NLP converts text into numerical representations. </a:t>
            </a:r>
          </a:p>
          <a:p>
            <a:r>
              <a:rPr lang="en-US" dirty="0"/>
              <a:t>These representations allow models to learn linguistic patterns.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C5A374-1751-F8DD-931C-DB8B7945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 Processing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76D96-A722-C5C8-CB55-88E347FF6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771" y="0"/>
            <a:ext cx="3788229" cy="15915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F5E9C3-1A8B-D856-8353-84F99F9EB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8" t="12005" r="3797" b="29729"/>
          <a:stretch>
            <a:fillRect/>
          </a:stretch>
        </p:blipFill>
        <p:spPr>
          <a:xfrm>
            <a:off x="2420066" y="2522510"/>
            <a:ext cx="5644788" cy="243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47645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AAF7A-0AE0-9720-B4F4-2CEF5E0308A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3" y="759973"/>
            <a:ext cx="7985378" cy="1093013"/>
          </a:xfrm>
        </p:spPr>
        <p:txBody>
          <a:bodyPr/>
          <a:lstStyle/>
          <a:p>
            <a:r>
              <a:rPr lang="en-US" dirty="0"/>
              <a:t>Neural networks cannot directly process raw text. </a:t>
            </a:r>
          </a:p>
          <a:p>
            <a:r>
              <a:rPr lang="en-US" dirty="0"/>
              <a:t>Tokenization converts text into discrete units called tokens. </a:t>
            </a:r>
          </a:p>
          <a:p>
            <a:r>
              <a:rPr lang="en-US" dirty="0"/>
              <a:t>Tokens are then mapped to numerical representations.(Token ID)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9541C7-31B0-4918-A8EC-18A1D3F99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861A0-A3F1-075E-8425-B6D102B68745}"/>
              </a:ext>
            </a:extLst>
          </p:cNvPr>
          <p:cNvSpPr txBox="1"/>
          <p:nvPr/>
        </p:nvSpPr>
        <p:spPr>
          <a:xfrm>
            <a:off x="2971331" y="1852986"/>
            <a:ext cx="3183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Tokenization is essential in NLP!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36E712-71A7-CC6D-CCCB-68E3374117FF}"/>
              </a:ext>
            </a:extLst>
          </p:cNvPr>
          <p:cNvSpPr txBox="1"/>
          <p:nvPr/>
        </p:nvSpPr>
        <p:spPr>
          <a:xfrm>
            <a:off x="3334465" y="2646828"/>
            <a:ext cx="2351314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Tokenization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76EF34-83B1-0B45-152F-FDB366C17CDF}"/>
              </a:ext>
            </a:extLst>
          </p:cNvPr>
          <p:cNvCxnSpPr>
            <a:cxnSpLocks/>
          </p:cNvCxnSpPr>
          <p:nvPr/>
        </p:nvCxnSpPr>
        <p:spPr>
          <a:xfrm>
            <a:off x="4510122" y="2158897"/>
            <a:ext cx="0" cy="4128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CA2D51-397E-4D6C-63DD-A2A3BDA56300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120995" y="3183571"/>
            <a:ext cx="1213470" cy="7347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C41D00-2841-4449-CBAB-A3FE76B098D6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3240868" y="3211251"/>
            <a:ext cx="655380" cy="7070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2D8648-C864-E6B2-1AF8-BCBA0944A139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4148238" y="3211251"/>
            <a:ext cx="350627" cy="7070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D25E963-79F4-B32D-994D-87EECD13D937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5077943" y="3211251"/>
            <a:ext cx="1" cy="7024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BCD38A3-079D-97F1-110D-4B18A4E9BF4E}"/>
              </a:ext>
            </a:extLst>
          </p:cNvPr>
          <p:cNvSpPr txBox="1"/>
          <p:nvPr/>
        </p:nvSpPr>
        <p:spPr>
          <a:xfrm>
            <a:off x="1416288" y="3918308"/>
            <a:ext cx="1409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“Tokenization”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BBD028-D057-5353-DFF5-ECDB3281AC02}"/>
              </a:ext>
            </a:extLst>
          </p:cNvPr>
          <p:cNvSpPr txBox="1"/>
          <p:nvPr/>
        </p:nvSpPr>
        <p:spPr>
          <a:xfrm>
            <a:off x="2951327" y="3918307"/>
            <a:ext cx="579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“is” 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7A0BA9-D8E1-D418-1A55-6C660C4EF2F0}"/>
              </a:ext>
            </a:extLst>
          </p:cNvPr>
          <p:cNvSpPr txBox="1"/>
          <p:nvPr/>
        </p:nvSpPr>
        <p:spPr>
          <a:xfrm>
            <a:off x="3624006" y="3918307"/>
            <a:ext cx="1048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“essential”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8572EF-7D6E-BE88-3586-E1FE6CEA06C7}"/>
              </a:ext>
            </a:extLst>
          </p:cNvPr>
          <p:cNvSpPr txBox="1"/>
          <p:nvPr/>
        </p:nvSpPr>
        <p:spPr>
          <a:xfrm>
            <a:off x="4788404" y="3913687"/>
            <a:ext cx="5790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“in”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C67CAE-484C-9C08-DB07-3983860BD3DF}"/>
              </a:ext>
            </a:extLst>
          </p:cNvPr>
          <p:cNvSpPr txBox="1"/>
          <p:nvPr/>
        </p:nvSpPr>
        <p:spPr>
          <a:xfrm>
            <a:off x="5354982" y="3920992"/>
            <a:ext cx="883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“NLP”</a:t>
            </a:r>
            <a:endParaRPr lang="en-US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090A4F3-1A57-5140-E4C0-03B45F6A6220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5466919" y="3211251"/>
            <a:ext cx="329794" cy="7097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5EED8E4-855E-028E-C30B-C594EA3E62F4}"/>
              </a:ext>
            </a:extLst>
          </p:cNvPr>
          <p:cNvSpPr txBox="1"/>
          <p:nvPr/>
        </p:nvSpPr>
        <p:spPr>
          <a:xfrm>
            <a:off x="6238443" y="3913686"/>
            <a:ext cx="5397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“!”</a:t>
            </a:r>
            <a:endParaRPr lang="en-US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008176E-E42A-A487-8EE1-7FF3ABEAD115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5731252" y="3196068"/>
            <a:ext cx="777042" cy="7176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91D43E0-B95F-D657-A40C-034C7DEC34A9}"/>
              </a:ext>
            </a:extLst>
          </p:cNvPr>
          <p:cNvCxnSpPr>
            <a:cxnSpLocks/>
          </p:cNvCxnSpPr>
          <p:nvPr/>
        </p:nvCxnSpPr>
        <p:spPr>
          <a:xfrm>
            <a:off x="4161828" y="4228769"/>
            <a:ext cx="0" cy="3512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0B2E543-C89F-52B4-E49D-19F2D24665B0}"/>
              </a:ext>
            </a:extLst>
          </p:cNvPr>
          <p:cNvSpPr txBox="1"/>
          <p:nvPr/>
        </p:nvSpPr>
        <p:spPr>
          <a:xfrm>
            <a:off x="3700410" y="4673424"/>
            <a:ext cx="8628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{238}</a:t>
            </a:r>
            <a:endParaRPr lang="en-US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4F09C61-A1AC-0C01-977D-C0DCDE55ED9B}"/>
              </a:ext>
            </a:extLst>
          </p:cNvPr>
          <p:cNvCxnSpPr>
            <a:cxnSpLocks/>
          </p:cNvCxnSpPr>
          <p:nvPr/>
        </p:nvCxnSpPr>
        <p:spPr>
          <a:xfrm>
            <a:off x="5047052" y="4221463"/>
            <a:ext cx="0" cy="3512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DCA5BE0-743B-3B1A-1ED6-2A3AFD6EC981}"/>
              </a:ext>
            </a:extLst>
          </p:cNvPr>
          <p:cNvCxnSpPr>
            <a:cxnSpLocks/>
          </p:cNvCxnSpPr>
          <p:nvPr/>
        </p:nvCxnSpPr>
        <p:spPr>
          <a:xfrm>
            <a:off x="5796712" y="4221463"/>
            <a:ext cx="0" cy="3512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1783EBE-DB5D-3B17-A19C-C36E408A49F6}"/>
              </a:ext>
            </a:extLst>
          </p:cNvPr>
          <p:cNvSpPr txBox="1"/>
          <p:nvPr/>
        </p:nvSpPr>
        <p:spPr>
          <a:xfrm>
            <a:off x="4604083" y="4673424"/>
            <a:ext cx="8628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{17}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FD8E81-A5EB-5D56-A97B-174FCC6ADEF6}"/>
              </a:ext>
            </a:extLst>
          </p:cNvPr>
          <p:cNvSpPr txBox="1"/>
          <p:nvPr/>
        </p:nvSpPr>
        <p:spPr>
          <a:xfrm>
            <a:off x="5354982" y="4673424"/>
            <a:ext cx="8628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{5342}</a:t>
            </a:r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FECF441-2944-78F0-5552-AD6D44A9DB9C}"/>
              </a:ext>
            </a:extLst>
          </p:cNvPr>
          <p:cNvCxnSpPr>
            <a:cxnSpLocks/>
          </p:cNvCxnSpPr>
          <p:nvPr/>
        </p:nvCxnSpPr>
        <p:spPr>
          <a:xfrm>
            <a:off x="6116383" y="4792282"/>
            <a:ext cx="82755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E7EDC98-7B92-0964-A4CE-3910C3EA0816}"/>
              </a:ext>
            </a:extLst>
          </p:cNvPr>
          <p:cNvSpPr txBox="1"/>
          <p:nvPr/>
        </p:nvSpPr>
        <p:spPr>
          <a:xfrm>
            <a:off x="7028254" y="4581091"/>
            <a:ext cx="1320032" cy="3693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Token ID</a:t>
            </a:r>
          </a:p>
        </p:txBody>
      </p:sp>
    </p:spTree>
    <p:extLst>
      <p:ext uri="{BB962C8B-B14F-4D97-AF65-F5344CB8AC3E}">
        <p14:creationId xmlns:p14="http://schemas.microsoft.com/office/powerpoint/2010/main" val="640366340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7A81CFB-AAF4-B8C1-02FF-224EC794E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Tokens → Vectors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2CE4E1-4933-AE3E-3EA1-88BE3E0DB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FC38FB-EFFF-79AF-6B7A-C41AE017F0C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1" y="871650"/>
            <a:ext cx="5735699" cy="1209891"/>
          </a:xfrm>
        </p:spPr>
        <p:txBody>
          <a:bodyPr/>
          <a:lstStyle/>
          <a:p>
            <a:r>
              <a:rPr lang="en-US" dirty="0"/>
              <a:t>An embedding represents a token as a vector. </a:t>
            </a:r>
          </a:p>
          <a:p>
            <a:r>
              <a:rPr lang="en-US" dirty="0"/>
              <a:t>Similar meanings can have similar representations. </a:t>
            </a:r>
          </a:p>
          <a:p>
            <a:r>
              <a:rPr lang="en-US" dirty="0"/>
              <a:t>Embeddings provide a numerical semantic space for language.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410ACC-4D42-2B5A-AE7C-C2D78879F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413" y="1836982"/>
            <a:ext cx="2990706" cy="29049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FFCAA3-1DC3-E6D4-0499-1EA6893A8F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97" y="2081541"/>
            <a:ext cx="4811936" cy="241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208779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5373C0B-3CC3-D52B-21AD-87E8A0914E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Recurrent Neural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677E4-07E3-E7D2-7EE4-E386616FD9D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2" y="907667"/>
            <a:ext cx="7985378" cy="1409701"/>
          </a:xfrm>
        </p:spPr>
        <p:txBody>
          <a:bodyPr/>
          <a:lstStyle/>
          <a:p>
            <a:r>
              <a:rPr lang="en-US" dirty="0"/>
              <a:t>RNNs are designed to process sequential data.</a:t>
            </a:r>
            <a:endParaRPr lang="prs-AF" dirty="0"/>
          </a:p>
          <a:p>
            <a:r>
              <a:rPr lang="en-US" dirty="0"/>
              <a:t>Key idea:</a:t>
            </a:r>
            <a:endParaRPr lang="prs-AF" dirty="0"/>
          </a:p>
          <a:p>
            <a:r>
              <a:rPr lang="en-US" dirty="0"/>
              <a:t>The previous hidden state is passed to the next time step,</a:t>
            </a:r>
            <a:endParaRPr lang="prs-AF" dirty="0"/>
          </a:p>
          <a:p>
            <a:r>
              <a:rPr lang="en-US" dirty="0"/>
              <a:t>allowing the model to maintain information from the past.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262F57-D73E-B8EF-5B7E-F7AF60C3A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RNN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7D2AE4-423B-3CA7-8F4C-D2E46C78D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72" y="2412565"/>
            <a:ext cx="4841287" cy="2196193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C3533C6-472B-FCCB-D21C-C61BEDB99766}"/>
              </a:ext>
            </a:extLst>
          </p:cNvPr>
          <p:cNvSpPr txBox="1">
            <a:spLocks/>
          </p:cNvSpPr>
          <p:nvPr/>
        </p:nvSpPr>
        <p:spPr>
          <a:xfrm>
            <a:off x="5598687" y="2908633"/>
            <a:ext cx="3414684" cy="12040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04771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0" i="0" u="none" strike="noStrike" kern="1200" cap="none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  <a:sym typeface="Arial"/>
              </a:defRPr>
            </a:lvl1pPr>
            <a:lvl2pPr marL="685766" marR="0" lvl="1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028649" marR="0" lvl="2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532" marR="0" lvl="3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714415" marR="0" lvl="4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057297" marR="0" lvl="5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00180" marR="0" lvl="6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743064" marR="0" lvl="7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085946" marR="0" lvl="8" indent="-238113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76221" indent="-171450" algn="ctr">
              <a:buFont typeface="Arial" panose="020B0604020202020204" pitchFamily="34" charset="0"/>
              <a:buChar char="•"/>
            </a:pPr>
            <a:r>
              <a:rPr lang="en-US" sz="1100" b="1" dirty="0"/>
              <a:t>Sequential processing</a:t>
            </a:r>
            <a:r>
              <a:rPr lang="en-US" sz="1100" dirty="0"/>
              <a:t> </a:t>
            </a:r>
          </a:p>
          <a:p>
            <a:pPr marL="276221" indent="-171450" algn="ctr">
              <a:buFont typeface="Arial" panose="020B0604020202020204" pitchFamily="34" charset="0"/>
              <a:buChar char="•"/>
            </a:pPr>
            <a:r>
              <a:rPr lang="en-US" sz="1100" b="1" dirty="0"/>
              <a:t>Hidden state as memory</a:t>
            </a:r>
            <a:r>
              <a:rPr lang="en-US" sz="1100" dirty="0"/>
              <a:t> </a:t>
            </a:r>
          </a:p>
          <a:p>
            <a:pPr marL="276221" indent="-171450" algn="ctr">
              <a:buFont typeface="Arial" panose="020B0604020202020204" pitchFamily="34" charset="0"/>
              <a:buChar char="•"/>
            </a:pPr>
            <a:r>
              <a:rPr lang="en-US" sz="1100" b="1" dirty="0"/>
              <a:t>Shared parameters across time steps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66710403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3901E28-1FC0-1F62-A5B8-C10311A7B3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/>
              <a:t>Long Short-Term Memory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B3A71-C9CC-DBC8-A664-3ACE98C6B05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2" y="939310"/>
            <a:ext cx="7985378" cy="3005273"/>
          </a:xfrm>
        </p:spPr>
        <p:txBody>
          <a:bodyPr/>
          <a:lstStyle/>
          <a:p>
            <a:r>
              <a:rPr lang="en-US" dirty="0"/>
              <a:t>LSTM is a specialized RNN designed to learn</a:t>
            </a:r>
          </a:p>
          <a:p>
            <a:r>
              <a:rPr lang="en-US" dirty="0"/>
              <a:t>long-term dependencies in sequential data.</a:t>
            </a:r>
          </a:p>
          <a:p>
            <a:r>
              <a:rPr lang="en-US" dirty="0"/>
              <a:t>Instead of relying only on a hidden state,</a:t>
            </a:r>
          </a:p>
          <a:p>
            <a:r>
              <a:rPr lang="en-US" dirty="0"/>
              <a:t>LSTM introduces:</a:t>
            </a:r>
          </a:p>
          <a:p>
            <a:r>
              <a:rPr lang="en-US" dirty="0"/>
              <a:t>• Cell State</a:t>
            </a:r>
          </a:p>
          <a:p>
            <a:r>
              <a:rPr lang="en-US" dirty="0"/>
              <a:t>• Forget Gate</a:t>
            </a:r>
          </a:p>
          <a:p>
            <a:r>
              <a:rPr lang="en-US" dirty="0"/>
              <a:t>• Input Gate</a:t>
            </a:r>
          </a:p>
          <a:p>
            <a:r>
              <a:rPr lang="en-US" dirty="0"/>
              <a:t>• Output Gate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095BA6-5E42-1EF2-CA28-7D3D23CE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LSTM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DCBCF3-B91E-C049-5FEC-640312F32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650" y="2031801"/>
            <a:ext cx="4270881" cy="2336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46ED3D-10F3-2F01-CF32-1129E39FA983}"/>
              </a:ext>
            </a:extLst>
          </p:cNvPr>
          <p:cNvSpPr txBox="1"/>
          <p:nvPr/>
        </p:nvSpPr>
        <p:spPr>
          <a:xfrm>
            <a:off x="2801267" y="4461033"/>
            <a:ext cx="4671646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Main idea:</a:t>
            </a:r>
            <a:r>
              <a:rPr lang="en-US" sz="1100" dirty="0"/>
              <a:t> Learn what to remember, what to forget, and what to output</a:t>
            </a:r>
          </a:p>
        </p:txBody>
      </p:sp>
    </p:spTree>
    <p:extLst>
      <p:ext uri="{BB962C8B-B14F-4D97-AF65-F5344CB8AC3E}">
        <p14:creationId xmlns:p14="http://schemas.microsoft.com/office/powerpoint/2010/main" val="360998111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C026D88-9948-B990-C4C2-A36105B264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/>
              <a:t>Limitations of Sequential Architectures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6CE7E6-4D39-22E5-7226-0655B30C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95EAD6-5A40-4E03-A1AF-7877AD7AE72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90" y="1162049"/>
            <a:ext cx="7985378" cy="1247043"/>
          </a:xfrm>
        </p:spPr>
        <p:txBody>
          <a:bodyPr/>
          <a:lstStyle/>
          <a:p>
            <a:pPr marL="390521" indent="-285750">
              <a:buFont typeface="Wingdings" panose="05000000000000000000" pitchFamily="2" charset="2"/>
              <a:buChar char="§"/>
            </a:pPr>
            <a:r>
              <a:rPr lang="en-US" dirty="0"/>
              <a:t>Sequential computation limits parallelization.</a:t>
            </a:r>
          </a:p>
          <a:p>
            <a:pPr marL="390521" indent="-285750">
              <a:buFont typeface="Wingdings" panose="05000000000000000000" pitchFamily="2" charset="2"/>
              <a:buChar char="§"/>
            </a:pPr>
            <a:r>
              <a:rPr lang="en-US" dirty="0"/>
              <a:t>Long-range dependencies are difficult to preserve.</a:t>
            </a:r>
          </a:p>
          <a:p>
            <a:pPr marL="390521" indent="-285750">
              <a:buFont typeface="Wingdings" panose="05000000000000000000" pitchFamily="2" charset="2"/>
              <a:buChar char="§"/>
            </a:pPr>
            <a:r>
              <a:rPr lang="en-US" dirty="0"/>
              <a:t>Processing long sequences becomes inefficient.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47E404-69D4-C919-F470-9A557854D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283" y="2681252"/>
            <a:ext cx="5527431" cy="19497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CE57B4-3821-D68B-896F-E453A8AC56B0}"/>
              </a:ext>
            </a:extLst>
          </p:cNvPr>
          <p:cNvSpPr txBox="1"/>
          <p:nvPr/>
        </p:nvSpPr>
        <p:spPr>
          <a:xfrm>
            <a:off x="7737232" y="3525328"/>
            <a:ext cx="1014046" cy="2616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Transformer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9EC2DB-4F4C-19E9-75BC-C8310B36F1A3}"/>
              </a:ext>
            </a:extLst>
          </p:cNvPr>
          <p:cNvSpPr txBox="1"/>
          <p:nvPr/>
        </p:nvSpPr>
        <p:spPr>
          <a:xfrm>
            <a:off x="2285999" y="227059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Can we process relationships between all tokens more directly?</a:t>
            </a: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4D47E703-3C0F-0B9F-C510-2CC2ADFAD916}"/>
              </a:ext>
            </a:extLst>
          </p:cNvPr>
          <p:cNvCxnSpPr>
            <a:cxnSpLocks/>
            <a:stCxn id="15" idx="3"/>
            <a:endCxn id="13" idx="0"/>
          </p:cNvCxnSpPr>
          <p:nvPr/>
        </p:nvCxnSpPr>
        <p:spPr>
          <a:xfrm>
            <a:off x="6857999" y="2409092"/>
            <a:ext cx="1386256" cy="111623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742518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47E5B0-73C9-E5F3-8002-85F86596F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B82357-86F0-7448-5586-BCF14B21936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517937" y="2845126"/>
            <a:ext cx="5326288" cy="1362993"/>
          </a:xfrm>
        </p:spPr>
        <p:txBody>
          <a:bodyPr/>
          <a:lstStyle/>
          <a:p>
            <a:pPr marL="390521" indent="-285750">
              <a:buFont typeface="Courier New" panose="02070309020205020404" pitchFamily="49" charset="0"/>
              <a:buChar char="o"/>
            </a:pPr>
            <a:r>
              <a:rPr lang="en-US" dirty="0"/>
              <a:t>It allows tokens to interact with each other.</a:t>
            </a:r>
          </a:p>
          <a:p>
            <a:pPr marL="390521" indent="-285750">
              <a:buFont typeface="Courier New" panose="02070309020205020404" pitchFamily="49" charset="0"/>
              <a:buChar char="o"/>
            </a:pPr>
            <a:r>
              <a:rPr lang="en-US" dirty="0"/>
              <a:t>Transformer removes the need for recurrent processing.</a:t>
            </a:r>
          </a:p>
          <a:p>
            <a:pPr marL="390521" indent="-285750">
              <a:buFont typeface="Courier New" panose="02070309020205020404" pitchFamily="49" charset="0"/>
              <a:buChar char="o"/>
            </a:pPr>
            <a:r>
              <a:rPr lang="en-US" dirty="0"/>
              <a:t>It enables highly parallel computation.</a:t>
            </a:r>
          </a:p>
          <a:p>
            <a:pPr marL="390521" indent="-285750">
              <a:buFont typeface="Courier New" panose="02070309020205020404" pitchFamily="49" charset="0"/>
              <a:buChar char="o"/>
            </a:pPr>
            <a:r>
              <a:rPr lang="en-US" dirty="0"/>
              <a:t>It became the foundation of modern LLMs.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722B6-0DC3-D6FD-3C76-8346F889403A}"/>
              </a:ext>
            </a:extLst>
          </p:cNvPr>
          <p:cNvSpPr txBox="1"/>
          <p:nvPr/>
        </p:nvSpPr>
        <p:spPr>
          <a:xfrm>
            <a:off x="1098042" y="2430169"/>
            <a:ext cx="2004479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Input Tokens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     ↓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Embedding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     ↓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Positional Information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     ↓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Self-Attention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     ↓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Feed Forward Network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     ↓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Output Representations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F1E4DD-2165-7D71-6029-F054CCE94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38" y="727818"/>
            <a:ext cx="2890470" cy="16519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422D9E-F18A-A5ED-16DB-DD8EA0ABC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670" y="727818"/>
            <a:ext cx="2890470" cy="16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5839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59250B0-7E53-1FF6-7725-9925BB47F2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/>
              <a:t>Large Language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47A10-DBC0-B60F-2772-33BC91BE213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1" y="781049"/>
            <a:ext cx="7985378" cy="1551843"/>
          </a:xfrm>
        </p:spPr>
        <p:txBody>
          <a:bodyPr/>
          <a:lstStyle/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dirty="0"/>
              <a:t>LLMs are large Transformer-based language models.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dirty="0"/>
              <a:t>They are pre-trained on massive amounts of text.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dirty="0"/>
              <a:t>They learn linguistic patterns, knowledge, and reasoning capabilities.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dirty="0"/>
              <a:t>They can generate text autoregressively.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BA1115-11D2-09AA-09E3-3854C944B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LLM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1509A5-ED9E-AC52-CD41-DFBD9F562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48" y="2332892"/>
            <a:ext cx="4562939" cy="22643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8BE1CC-33A8-7435-AA63-A087179B6771}"/>
              </a:ext>
            </a:extLst>
          </p:cNvPr>
          <p:cNvSpPr txBox="1"/>
          <p:nvPr/>
        </p:nvSpPr>
        <p:spPr>
          <a:xfrm>
            <a:off x="5997598" y="1958411"/>
            <a:ext cx="2498007" cy="5078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 Narrow" panose="020B0004020202020204" pitchFamily="34" charset="0"/>
              </a:rPr>
              <a:t>Why Can't We Directly Feed</a:t>
            </a:r>
          </a:p>
          <a:p>
            <a:pPr algn="ctr"/>
            <a:r>
              <a:rPr lang="en-US" dirty="0">
                <a:latin typeface="Aptos Narrow" panose="020B0004020202020204" pitchFamily="34" charset="0"/>
              </a:rPr>
              <a:t> an Image to an LLM?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18783F2-71AE-AAAD-2B9D-74004EA61A77}"/>
              </a:ext>
            </a:extLst>
          </p:cNvPr>
          <p:cNvSpPr txBox="1">
            <a:spLocks/>
          </p:cNvSpPr>
          <p:nvPr/>
        </p:nvSpPr>
        <p:spPr>
          <a:xfrm>
            <a:off x="5897399" y="2466242"/>
            <a:ext cx="1063433" cy="1616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04771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0" i="0" u="none" strike="noStrike" kern="1200" cap="none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  <a:sym typeface="Arial"/>
              </a:defRPr>
            </a:lvl1pPr>
            <a:lvl2pPr marL="685766" marR="0" lvl="1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028649" marR="0" lvl="2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532" marR="0" lvl="3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714415" marR="0" lvl="4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057297" marR="0" lvl="5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00180" marR="0" lvl="6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743064" marR="0" lvl="7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085946" marR="0" lvl="8" indent="-238113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dirty="0"/>
              <a:t>IMAGE</a:t>
            </a:r>
          </a:p>
          <a:p>
            <a:pPr defTabSz="914400"/>
            <a:endParaRPr lang="en-US" dirty="0"/>
          </a:p>
          <a:p>
            <a:pPr defTabSz="914400"/>
            <a:r>
              <a:rPr lang="en-US" dirty="0"/>
              <a:t>[Pixels]</a:t>
            </a:r>
          </a:p>
          <a:p>
            <a:pPr defTabSz="914400"/>
            <a:r>
              <a:rPr lang="en-US" dirty="0"/>
              <a:t>[Pixels]</a:t>
            </a:r>
          </a:p>
          <a:p>
            <a:pPr defTabSz="914400"/>
            <a:r>
              <a:rPr lang="en-US" dirty="0"/>
              <a:t>[Pixels]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DB0B376-01D0-2C6D-3C54-F4A2C66545E2}"/>
              </a:ext>
            </a:extLst>
          </p:cNvPr>
          <p:cNvSpPr txBox="1">
            <a:spLocks/>
          </p:cNvSpPr>
          <p:nvPr/>
        </p:nvSpPr>
        <p:spPr>
          <a:xfrm>
            <a:off x="7432172" y="2466242"/>
            <a:ext cx="1063433" cy="1616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04771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0" i="0" u="none" strike="noStrike" kern="1200" cap="none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  <a:sym typeface="Arial"/>
              </a:defRPr>
            </a:lvl1pPr>
            <a:lvl2pPr marL="685766" marR="0" lvl="1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028649" marR="0" lvl="2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532" marR="0" lvl="3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714415" marR="0" lvl="4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057297" marR="0" lvl="5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00180" marR="0" lvl="6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743064" marR="0" lvl="7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085946" marR="0" lvl="8" indent="-238113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dirty="0"/>
              <a:t>LLM</a:t>
            </a:r>
          </a:p>
          <a:p>
            <a:pPr defTabSz="914400"/>
            <a:endParaRPr lang="en-US" dirty="0"/>
          </a:p>
          <a:p>
            <a:pPr defTabSz="914400"/>
            <a:r>
              <a:rPr lang="en-US" dirty="0"/>
              <a:t>[Tokens]</a:t>
            </a:r>
          </a:p>
          <a:p>
            <a:pPr defTabSz="914400"/>
            <a:r>
              <a:rPr lang="en-US" dirty="0"/>
              <a:t>[Tokens]</a:t>
            </a:r>
          </a:p>
          <a:p>
            <a:pPr defTabSz="914400"/>
            <a:r>
              <a:rPr lang="en-US" dirty="0"/>
              <a:t>[Tokens]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E4DD2224-5E4C-5ED8-9AE1-4C57BAC4D86B}"/>
              </a:ext>
            </a:extLst>
          </p:cNvPr>
          <p:cNvSpPr/>
          <p:nvPr/>
        </p:nvSpPr>
        <p:spPr>
          <a:xfrm>
            <a:off x="6140311" y="2813538"/>
            <a:ext cx="484632" cy="4044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16001EFE-79DD-CD38-F66E-928AABA04D54}"/>
              </a:ext>
            </a:extLst>
          </p:cNvPr>
          <p:cNvSpPr/>
          <p:nvPr/>
        </p:nvSpPr>
        <p:spPr>
          <a:xfrm>
            <a:off x="7570526" y="2813538"/>
            <a:ext cx="484632" cy="4044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Not Equal 13">
            <a:extLst>
              <a:ext uri="{FF2B5EF4-FFF2-40B4-BE49-F238E27FC236}">
                <a16:creationId xmlns:a16="http://schemas.microsoft.com/office/drawing/2014/main" id="{972499C0-2F6E-E470-7A49-61F12DFD720D}"/>
              </a:ext>
            </a:extLst>
          </p:cNvPr>
          <p:cNvSpPr/>
          <p:nvPr/>
        </p:nvSpPr>
        <p:spPr>
          <a:xfrm>
            <a:off x="6699738" y="3389688"/>
            <a:ext cx="870788" cy="507831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773A73A-5322-05A9-5F43-9456BB84F407}"/>
              </a:ext>
            </a:extLst>
          </p:cNvPr>
          <p:cNvSpPr txBox="1">
            <a:spLocks/>
          </p:cNvSpPr>
          <p:nvPr/>
        </p:nvSpPr>
        <p:spPr>
          <a:xfrm>
            <a:off x="5439285" y="4082562"/>
            <a:ext cx="3640238" cy="514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04771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0" i="0" u="none" strike="noStrike" kern="1200" cap="none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  <a:sym typeface="Arial"/>
              </a:defRPr>
            </a:lvl1pPr>
            <a:lvl2pPr marL="685766" marR="0" lvl="1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028649" marR="0" lvl="2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532" marR="0" lvl="3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714415" marR="0" lvl="4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057297" marR="0" lvl="5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00180" marR="0" lvl="6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743064" marR="0" lvl="7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085946" marR="0" lvl="8" indent="-238113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1100" dirty="0"/>
              <a:t>Different modalities → Different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2373369810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327C92E6-8772-E810-C12B-3157D20D65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000" b="1" dirty="0"/>
              <a:t>Learning Transferable Visual Models From Natural Language Supervision</a:t>
            </a:r>
            <a:endParaRPr lang="en-US" sz="1000" dirty="0"/>
          </a:p>
          <a:p>
            <a:endParaRPr lang="en-US" sz="1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669F31-B520-E82E-7876-965ED89F5E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1" y="715724"/>
            <a:ext cx="3780526" cy="982932"/>
          </a:xfrm>
        </p:spPr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**Authors:**</a:t>
            </a:r>
            <a:r>
              <a:rPr lang="en-US" dirty="0"/>
              <a:t> Alec Radford et al.</a:t>
            </a:r>
          </a:p>
          <a:p>
            <a:r>
              <a:rPr lang="en-US" dirty="0"/>
              <a:t>- </a:t>
            </a:r>
            <a:r>
              <a:rPr lang="en-US" b="1" dirty="0"/>
              <a:t>**Conference:**</a:t>
            </a:r>
            <a:r>
              <a:rPr lang="en-US" dirty="0"/>
              <a:t> ICML 2021</a:t>
            </a:r>
          </a:p>
          <a:p>
            <a:pPr marL="390521" indent="-285750">
              <a:buFontTx/>
              <a:buChar char="-"/>
            </a:pPr>
            <a:r>
              <a:rPr lang="en-US" b="1" dirty="0"/>
              <a:t>**Year:** </a:t>
            </a:r>
            <a:r>
              <a:rPr lang="en-US" dirty="0"/>
              <a:t>2021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A7E9AA-BADB-9DC2-2C65-474584EB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43D7BA-5CED-403A-F7B9-DB0EABBF96CC}"/>
              </a:ext>
            </a:extLst>
          </p:cNvPr>
          <p:cNvSpPr txBox="1"/>
          <p:nvPr/>
        </p:nvSpPr>
        <p:spPr>
          <a:xfrm>
            <a:off x="404611" y="1728564"/>
            <a:ext cx="457200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Problem: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Fixed visual categories and limited supervision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Key Idea: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Align images and natural language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Architecture: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Image Encoder + Text Encoder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Contribution: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Zero-Shot Transfer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Limitation: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Not a conversational image-to-text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5CB638-F315-2E37-21E9-8562273592CF}"/>
              </a:ext>
            </a:extLst>
          </p:cNvPr>
          <p:cNvSpPr txBox="1"/>
          <p:nvPr/>
        </p:nvSpPr>
        <p:spPr>
          <a:xfrm>
            <a:off x="4642340" y="1794379"/>
            <a:ext cx="4249614" cy="29649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┌──────────────────┐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│  Image Encoder   │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Image ──────────►│                  │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└────────┬─────────┘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│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▼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Image Vector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│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│ Similarity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│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▲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Text Vector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│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┌────────┴─────────┐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Text ───────────►│   Text Encoder   │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└──────────────────┘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525724005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C1E628E-53DD-5A5A-1825-365A8C7F32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400" dirty="0"/>
              <a:t>a Visual Language Model for Few-Shot Learning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3F4499-7A5E-EEBC-3628-A659C9D4A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Flamingo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1F87D52-F3CB-69D0-EF90-608ED555F01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1" y="715724"/>
            <a:ext cx="3780526" cy="982932"/>
          </a:xfrm>
        </p:spPr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**Authors:**</a:t>
            </a:r>
            <a:r>
              <a:rPr lang="en-US" dirty="0"/>
              <a:t> Jean-Baptiste Alayrac et al.</a:t>
            </a:r>
          </a:p>
          <a:p>
            <a:r>
              <a:rPr lang="en-US" dirty="0"/>
              <a:t>- </a:t>
            </a:r>
            <a:r>
              <a:rPr lang="en-US" b="1" dirty="0"/>
              <a:t>**Conference:**</a:t>
            </a:r>
            <a:r>
              <a:rPr lang="en-US" dirty="0"/>
              <a:t> NeurIPS 2022</a:t>
            </a:r>
          </a:p>
          <a:p>
            <a:r>
              <a:rPr lang="en-US" dirty="0"/>
              <a:t>- </a:t>
            </a:r>
            <a:r>
              <a:rPr lang="en-US" b="1" dirty="0"/>
              <a:t>**Year:** </a:t>
            </a:r>
            <a:r>
              <a:rPr lang="en-US" dirty="0"/>
              <a:t>2022</a:t>
            </a:r>
            <a:endParaRPr lang="ar-S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E1B91-764E-8195-064C-3F2FB4AE9C27}"/>
              </a:ext>
            </a:extLst>
          </p:cNvPr>
          <p:cNvSpPr txBox="1"/>
          <p:nvPr/>
        </p:nvSpPr>
        <p:spPr>
          <a:xfrm>
            <a:off x="404611" y="1728564"/>
            <a:ext cx="457200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Problem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How to connect pretrained vision and language models?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Key Idea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Build a bridge between them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Architecture     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Perceiver </a:t>
            </a:r>
            <a:r>
              <a:rPr lang="en-US" dirty="0" err="1">
                <a:solidFill>
                  <a:schemeClr val="bg1"/>
                </a:solidFill>
              </a:rPr>
              <a:t>Resampler</a:t>
            </a:r>
            <a:r>
              <a:rPr lang="en-US" dirty="0">
                <a:solidFill>
                  <a:schemeClr val="bg1"/>
                </a:solidFill>
              </a:rPr>
              <a:t> + Gated Cross-Attention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     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Contribution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Few-Shot Multimodal Learning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Limitation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Very large and computationally expensive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3EB2F1-101B-8962-0921-1ACFE429F5F4}"/>
              </a:ext>
            </a:extLst>
          </p:cNvPr>
          <p:cNvSpPr txBox="1"/>
          <p:nvPr/>
        </p:nvSpPr>
        <p:spPr>
          <a:xfrm>
            <a:off x="4835770" y="1797813"/>
            <a:ext cx="4249614" cy="28623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000" b="1" dirty="0">
                <a:ln/>
                <a:solidFill>
                  <a:schemeClr val="accent4"/>
                </a:solidFill>
              </a:rPr>
              <a:t>Vision Encoder</a:t>
            </a:r>
          </a:p>
          <a:p>
            <a:pPr algn="ctr"/>
            <a:r>
              <a:rPr lang="en-US" sz="2000" b="1" dirty="0">
                <a:ln/>
                <a:solidFill>
                  <a:schemeClr val="accent4"/>
                </a:solidFill>
              </a:rPr>
              <a:t>   </a:t>
            </a:r>
          </a:p>
          <a:p>
            <a:pPr algn="ctr"/>
            <a:r>
              <a:rPr lang="en-US" sz="2000" b="1" dirty="0">
                <a:ln/>
                <a:solidFill>
                  <a:schemeClr val="accent4"/>
                </a:solidFill>
              </a:rPr>
              <a:t>Perceiver </a:t>
            </a:r>
            <a:r>
              <a:rPr lang="en-US" sz="2000" b="1" dirty="0" err="1">
                <a:ln/>
                <a:solidFill>
                  <a:schemeClr val="accent4"/>
                </a:solidFill>
              </a:rPr>
              <a:t>Resampler</a:t>
            </a:r>
            <a:endParaRPr lang="en-US" sz="2000" b="1" dirty="0">
              <a:ln/>
              <a:solidFill>
                <a:schemeClr val="accent4"/>
              </a:solidFill>
            </a:endParaRPr>
          </a:p>
          <a:p>
            <a:pPr algn="ctr"/>
            <a:r>
              <a:rPr lang="en-US" sz="2000" b="1" dirty="0">
                <a:ln/>
                <a:solidFill>
                  <a:schemeClr val="accent4"/>
                </a:solidFill>
              </a:rPr>
              <a:t>      </a:t>
            </a:r>
          </a:p>
          <a:p>
            <a:pPr algn="ctr"/>
            <a:r>
              <a:rPr lang="en-US" sz="2000" b="1" dirty="0">
                <a:ln/>
                <a:solidFill>
                  <a:schemeClr val="accent4"/>
                </a:solidFill>
              </a:rPr>
              <a:t>Visual Tokens</a:t>
            </a:r>
          </a:p>
          <a:p>
            <a:pPr algn="ctr"/>
            <a:r>
              <a:rPr lang="en-US" sz="2000" b="1" dirty="0">
                <a:ln/>
                <a:solidFill>
                  <a:schemeClr val="accent4"/>
                </a:solidFill>
              </a:rPr>
              <a:t>      </a:t>
            </a:r>
          </a:p>
          <a:p>
            <a:pPr algn="ctr"/>
            <a:r>
              <a:rPr lang="en-US" sz="2000" b="1" dirty="0">
                <a:ln/>
                <a:solidFill>
                  <a:schemeClr val="accent4"/>
                </a:solidFill>
              </a:rPr>
              <a:t>Gated Cross-Attention</a:t>
            </a:r>
          </a:p>
          <a:p>
            <a:pPr algn="ctr"/>
            <a:r>
              <a:rPr lang="en-US" sz="2000" b="1" dirty="0">
                <a:ln/>
                <a:solidFill>
                  <a:schemeClr val="accent4"/>
                </a:solidFill>
              </a:rPr>
              <a:t>      </a:t>
            </a:r>
          </a:p>
          <a:p>
            <a:pPr algn="ctr"/>
            <a:r>
              <a:rPr lang="en-US" sz="2000" b="1" dirty="0">
                <a:ln/>
                <a:solidFill>
                  <a:schemeClr val="accent4"/>
                </a:solidFill>
              </a:rPr>
              <a:t>Language Model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FD4ABBF-9DCA-DDF3-544B-E098A8BDCEB7}"/>
              </a:ext>
            </a:extLst>
          </p:cNvPr>
          <p:cNvSpPr/>
          <p:nvPr/>
        </p:nvSpPr>
        <p:spPr>
          <a:xfrm>
            <a:off x="6834636" y="2151185"/>
            <a:ext cx="196361" cy="287215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716759E-CA36-BEAB-7764-39256A8076C0}"/>
              </a:ext>
            </a:extLst>
          </p:cNvPr>
          <p:cNvSpPr/>
          <p:nvPr/>
        </p:nvSpPr>
        <p:spPr>
          <a:xfrm>
            <a:off x="6834636" y="2791772"/>
            <a:ext cx="196361" cy="287215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840430C4-C68A-6C32-52E2-297E20566B07}"/>
              </a:ext>
            </a:extLst>
          </p:cNvPr>
          <p:cNvSpPr/>
          <p:nvPr/>
        </p:nvSpPr>
        <p:spPr>
          <a:xfrm>
            <a:off x="6834635" y="3430894"/>
            <a:ext cx="196361" cy="287215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704548E-E3A0-6E8A-94C0-18A767780F10}"/>
              </a:ext>
            </a:extLst>
          </p:cNvPr>
          <p:cNvSpPr/>
          <p:nvPr/>
        </p:nvSpPr>
        <p:spPr>
          <a:xfrm>
            <a:off x="6834635" y="4003431"/>
            <a:ext cx="196361" cy="287215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1333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9C8E1AB-754F-BEE4-6104-1FF36CA8AE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200" dirty="0"/>
              <a:t>Bootstrapping Language-Image Pre-training with</a:t>
            </a:r>
          </a:p>
          <a:p>
            <a:r>
              <a:rPr lang="en-US" sz="1200" dirty="0"/>
              <a:t> Frozen Image Encoders and Large Language Models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52107B-3D9B-2417-F93F-2524BD2AC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BLIP-2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1C46F65-B781-86B2-A119-55B0E330448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1" y="822933"/>
            <a:ext cx="3780526" cy="982932"/>
          </a:xfrm>
        </p:spPr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**Authors:**</a:t>
            </a:r>
            <a:r>
              <a:rPr lang="en-US" dirty="0"/>
              <a:t> Junnan Li et al.</a:t>
            </a:r>
          </a:p>
          <a:p>
            <a:r>
              <a:rPr lang="en-US" dirty="0"/>
              <a:t>- </a:t>
            </a:r>
            <a:r>
              <a:rPr lang="en-US" b="1" dirty="0"/>
              <a:t>**Conference:**</a:t>
            </a:r>
            <a:r>
              <a:rPr lang="en-US" dirty="0"/>
              <a:t> ICML 2023</a:t>
            </a:r>
          </a:p>
          <a:p>
            <a:r>
              <a:rPr lang="en-US" dirty="0"/>
              <a:t>- </a:t>
            </a:r>
            <a:r>
              <a:rPr lang="en-US" b="1" dirty="0"/>
              <a:t>**Year:** </a:t>
            </a:r>
            <a:r>
              <a:rPr lang="en-US" dirty="0"/>
              <a:t>2023</a:t>
            </a:r>
          </a:p>
          <a:p>
            <a:endParaRPr lang="ar-S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BB506-E291-4D7E-DE9E-221B2E2D1478}"/>
              </a:ext>
            </a:extLst>
          </p:cNvPr>
          <p:cNvSpPr txBox="1"/>
          <p:nvPr/>
        </p:nvSpPr>
        <p:spPr>
          <a:xfrm>
            <a:off x="631949" y="1957165"/>
            <a:ext cx="473940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Problem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Expensive end-to-end training of large vision-language models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Key Idea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Use frozen pretrained models and learn a lightweight bridge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Architecture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Vision Encoder + Q-Former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Contribution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Efficient Vision-Language Learning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Limitation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Q-Former can limit fine-grained visual information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AD95E-4504-2B0A-41F5-640ECD42F7FD}"/>
              </a:ext>
            </a:extLst>
          </p:cNvPr>
          <p:cNvSpPr txBox="1"/>
          <p:nvPr/>
        </p:nvSpPr>
        <p:spPr>
          <a:xfrm>
            <a:off x="5797979" y="1860321"/>
            <a:ext cx="2625051" cy="28623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Vision Encoder</a:t>
            </a:r>
          </a:p>
          <a:p>
            <a:pPr algn="ctr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      </a:t>
            </a:r>
          </a:p>
          <a:p>
            <a:pPr algn="ctr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Visual Features</a:t>
            </a:r>
          </a:p>
          <a:p>
            <a:pPr algn="ctr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      </a:t>
            </a:r>
          </a:p>
          <a:p>
            <a:pPr algn="ctr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Q-Former</a:t>
            </a:r>
          </a:p>
          <a:p>
            <a:pPr algn="ctr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      </a:t>
            </a:r>
          </a:p>
          <a:p>
            <a:pPr algn="ctr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Projection</a:t>
            </a:r>
          </a:p>
          <a:p>
            <a:pPr algn="ctr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      </a:t>
            </a:r>
          </a:p>
          <a:p>
            <a:pPr algn="ctr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LLM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184DF9E-58EE-4347-AD0F-FF407762B7C3}"/>
              </a:ext>
            </a:extLst>
          </p:cNvPr>
          <p:cNvSpPr/>
          <p:nvPr/>
        </p:nvSpPr>
        <p:spPr>
          <a:xfrm>
            <a:off x="7012323" y="2233247"/>
            <a:ext cx="196361" cy="287215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70D237B-27EE-87B1-4903-D8C31C162AFC}"/>
              </a:ext>
            </a:extLst>
          </p:cNvPr>
          <p:cNvSpPr/>
          <p:nvPr/>
        </p:nvSpPr>
        <p:spPr>
          <a:xfrm>
            <a:off x="7012323" y="2825262"/>
            <a:ext cx="196361" cy="287215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0222025-2B34-7101-4BDD-FB7F12D6EECD}"/>
              </a:ext>
            </a:extLst>
          </p:cNvPr>
          <p:cNvSpPr/>
          <p:nvPr/>
        </p:nvSpPr>
        <p:spPr>
          <a:xfrm>
            <a:off x="7012322" y="3481755"/>
            <a:ext cx="196361" cy="287215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CE5EF2B-AD16-E32B-3B46-CB85845E3694}"/>
              </a:ext>
            </a:extLst>
          </p:cNvPr>
          <p:cNvSpPr/>
          <p:nvPr/>
        </p:nvSpPr>
        <p:spPr>
          <a:xfrm>
            <a:off x="7012323" y="4073770"/>
            <a:ext cx="196361" cy="287215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211395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0DE6DC6-7AD3-27BF-F8E1-33DD710638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600" dirty="0"/>
              <a:t>Visual Instruction Tuning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AF7AFE-543A-F216-3EB5-ABDD6BFC6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LLaVA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CDB0B0B-D7B1-999F-6889-4FC78BA2042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1" y="747439"/>
            <a:ext cx="3780526" cy="982932"/>
          </a:xfrm>
        </p:spPr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**Authors:**</a:t>
            </a:r>
            <a:r>
              <a:rPr lang="en-US" dirty="0"/>
              <a:t> Haotian Liu et al.</a:t>
            </a:r>
          </a:p>
          <a:p>
            <a:r>
              <a:rPr lang="en-US" dirty="0"/>
              <a:t>- </a:t>
            </a:r>
            <a:r>
              <a:rPr lang="en-US" b="1" dirty="0"/>
              <a:t>**Conference:**</a:t>
            </a:r>
            <a:r>
              <a:rPr lang="en-US" dirty="0"/>
              <a:t> NeurIPS 2023</a:t>
            </a:r>
          </a:p>
          <a:p>
            <a:r>
              <a:rPr lang="en-US" dirty="0"/>
              <a:t>- </a:t>
            </a:r>
            <a:r>
              <a:rPr lang="en-US" b="1" dirty="0"/>
              <a:t>**Year:** </a:t>
            </a:r>
            <a:r>
              <a:rPr lang="en-US" dirty="0"/>
              <a:t>2023</a:t>
            </a:r>
          </a:p>
          <a:p>
            <a:endParaRPr lang="ar-S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E879DE-5430-A9CA-3AA9-B88580E1ABE4}"/>
              </a:ext>
            </a:extLst>
          </p:cNvPr>
          <p:cNvSpPr txBox="1"/>
          <p:nvPr/>
        </p:nvSpPr>
        <p:spPr>
          <a:xfrm>
            <a:off x="631949" y="1957165"/>
            <a:ext cx="515925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Problem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How to make a vision-language model follow user instructions?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Key Idea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Connect a pretrained vision encoder to an LLM using a projection layer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Architecture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Vision Encoder + Projection + LLM</a:t>
            </a:r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Contribution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Visual Instruction Following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Limitation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Limited visual understanding compared with specialized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2D77A-C09A-17C9-1E33-A27B9FF6C739}"/>
              </a:ext>
            </a:extLst>
          </p:cNvPr>
          <p:cNvSpPr txBox="1"/>
          <p:nvPr/>
        </p:nvSpPr>
        <p:spPr>
          <a:xfrm>
            <a:off x="5974003" y="1638970"/>
            <a:ext cx="2450125" cy="3152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sz="2000" b="0" dirty="0">
                <a:solidFill>
                  <a:schemeClr val="tx2"/>
                </a:solidFill>
                <a:effectLst/>
              </a:rPr>
              <a:t>Image</a:t>
            </a:r>
          </a:p>
          <a:p>
            <a:pPr algn="ctr">
              <a:lnSpc>
                <a:spcPts val="1425"/>
              </a:lnSpc>
              <a:buNone/>
            </a:pPr>
            <a:endParaRPr lang="en-US" sz="2000" b="0" dirty="0">
              <a:solidFill>
                <a:schemeClr val="tx2"/>
              </a:solidFill>
              <a:effectLst/>
            </a:endParaRPr>
          </a:p>
          <a:p>
            <a:pPr algn="ctr">
              <a:lnSpc>
                <a:spcPts val="1425"/>
              </a:lnSpc>
              <a:buNone/>
            </a:pPr>
            <a:endParaRPr lang="en-US" sz="2000" b="0" dirty="0">
              <a:solidFill>
                <a:schemeClr val="tx2"/>
              </a:solidFill>
              <a:effectLst/>
            </a:endParaRPr>
          </a:p>
          <a:p>
            <a:pPr algn="ctr">
              <a:lnSpc>
                <a:spcPts val="1425"/>
              </a:lnSpc>
              <a:buNone/>
            </a:pPr>
            <a:r>
              <a:rPr lang="en-US" sz="2000" b="0" dirty="0">
                <a:solidFill>
                  <a:schemeClr val="tx2"/>
                </a:solidFill>
                <a:effectLst/>
              </a:rPr>
              <a:t>  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2000" b="0" dirty="0">
                <a:solidFill>
                  <a:schemeClr val="tx2"/>
                </a:solidFill>
                <a:effectLst/>
              </a:rPr>
              <a:t>Vision Encoder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2000" b="0" dirty="0">
                <a:solidFill>
                  <a:schemeClr val="tx2"/>
                </a:solidFill>
                <a:effectLst/>
              </a:rPr>
              <a:t>  </a:t>
            </a:r>
          </a:p>
          <a:p>
            <a:pPr algn="ctr">
              <a:lnSpc>
                <a:spcPts val="1425"/>
              </a:lnSpc>
              <a:buNone/>
            </a:pPr>
            <a:endParaRPr lang="en-US" sz="2000" b="0" dirty="0">
              <a:solidFill>
                <a:schemeClr val="tx2"/>
              </a:solidFill>
              <a:effectLst/>
            </a:endParaRPr>
          </a:p>
          <a:p>
            <a:pPr algn="ctr">
              <a:lnSpc>
                <a:spcPts val="1425"/>
              </a:lnSpc>
              <a:buNone/>
            </a:pPr>
            <a:endParaRPr lang="en-US" sz="2000" b="0" dirty="0">
              <a:solidFill>
                <a:schemeClr val="tx2"/>
              </a:solidFill>
              <a:effectLst/>
            </a:endParaRPr>
          </a:p>
          <a:p>
            <a:pPr algn="ctr">
              <a:lnSpc>
                <a:spcPts val="1425"/>
              </a:lnSpc>
              <a:buNone/>
            </a:pPr>
            <a:r>
              <a:rPr lang="en-US" sz="2000" b="0" dirty="0">
                <a:solidFill>
                  <a:schemeClr val="tx2"/>
                </a:solidFill>
                <a:effectLst/>
              </a:rPr>
              <a:t>Visual Features</a:t>
            </a:r>
          </a:p>
          <a:p>
            <a:pPr algn="ctr">
              <a:lnSpc>
                <a:spcPts val="1425"/>
              </a:lnSpc>
              <a:buNone/>
            </a:pPr>
            <a:endParaRPr lang="en-US" sz="2000" b="0" dirty="0">
              <a:solidFill>
                <a:schemeClr val="tx2"/>
              </a:solidFill>
              <a:effectLst/>
            </a:endParaRPr>
          </a:p>
          <a:p>
            <a:pPr algn="ctr">
              <a:lnSpc>
                <a:spcPts val="1425"/>
              </a:lnSpc>
              <a:buNone/>
            </a:pPr>
            <a:endParaRPr lang="en-US" sz="2000" b="0" dirty="0">
              <a:solidFill>
                <a:schemeClr val="tx2"/>
              </a:solidFill>
              <a:effectLst/>
            </a:endParaRPr>
          </a:p>
          <a:p>
            <a:pPr algn="ctr">
              <a:lnSpc>
                <a:spcPts val="1425"/>
              </a:lnSpc>
              <a:buNone/>
            </a:pPr>
            <a:r>
              <a:rPr lang="en-US" sz="2000" b="0" dirty="0">
                <a:solidFill>
                  <a:schemeClr val="tx2"/>
                </a:solidFill>
                <a:effectLst/>
              </a:rPr>
              <a:t>  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2000" b="0" dirty="0">
                <a:solidFill>
                  <a:schemeClr val="tx2"/>
                </a:solidFill>
                <a:effectLst/>
              </a:rPr>
              <a:t>Projection Layer</a:t>
            </a:r>
          </a:p>
          <a:p>
            <a:pPr algn="ctr">
              <a:lnSpc>
                <a:spcPts val="1425"/>
              </a:lnSpc>
              <a:buNone/>
            </a:pPr>
            <a:endParaRPr lang="en-US" sz="2000" b="0" dirty="0">
              <a:solidFill>
                <a:schemeClr val="tx2"/>
              </a:solidFill>
              <a:effectLst/>
            </a:endParaRPr>
          </a:p>
          <a:p>
            <a:pPr algn="ctr">
              <a:lnSpc>
                <a:spcPts val="1425"/>
              </a:lnSpc>
              <a:buNone/>
            </a:pPr>
            <a:endParaRPr lang="en-US" sz="2000" b="0" dirty="0">
              <a:solidFill>
                <a:schemeClr val="tx2"/>
              </a:solidFill>
              <a:effectLst/>
            </a:endParaRPr>
          </a:p>
          <a:p>
            <a:pPr algn="ctr">
              <a:lnSpc>
                <a:spcPts val="1425"/>
              </a:lnSpc>
              <a:buNone/>
            </a:pPr>
            <a:r>
              <a:rPr lang="en-US" sz="2000" b="0" dirty="0">
                <a:solidFill>
                  <a:schemeClr val="tx2"/>
                </a:solidFill>
                <a:effectLst/>
              </a:rPr>
              <a:t>  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2000" b="0" dirty="0">
                <a:solidFill>
                  <a:schemeClr val="tx2"/>
                </a:solidFill>
                <a:effectLst/>
              </a:rPr>
              <a:t>LLM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C78A54D3-3A5D-1391-2462-2E26BAFF4FC3}"/>
              </a:ext>
            </a:extLst>
          </p:cNvPr>
          <p:cNvSpPr/>
          <p:nvPr/>
        </p:nvSpPr>
        <p:spPr>
          <a:xfrm>
            <a:off x="7100884" y="1910862"/>
            <a:ext cx="196361" cy="351692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8D4EF8-72A3-302A-88B8-A5E22DC195D5}"/>
              </a:ext>
            </a:extLst>
          </p:cNvPr>
          <p:cNvSpPr/>
          <p:nvPr/>
        </p:nvSpPr>
        <p:spPr>
          <a:xfrm>
            <a:off x="7100883" y="2625969"/>
            <a:ext cx="196361" cy="351692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798C15A-7BFF-FEF5-EC65-7165DEBA1D66}"/>
              </a:ext>
            </a:extLst>
          </p:cNvPr>
          <p:cNvSpPr/>
          <p:nvPr/>
        </p:nvSpPr>
        <p:spPr>
          <a:xfrm>
            <a:off x="7100882" y="3356850"/>
            <a:ext cx="196361" cy="351692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0898DF8-C21A-50F3-A71D-415EB59158D5}"/>
              </a:ext>
            </a:extLst>
          </p:cNvPr>
          <p:cNvSpPr/>
          <p:nvPr/>
        </p:nvSpPr>
        <p:spPr>
          <a:xfrm>
            <a:off x="7100882" y="4071957"/>
            <a:ext cx="196361" cy="351692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35503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BF9678A-485A-60A3-7AA9-B1129F3D9C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200" dirty="0"/>
              <a:t>A Versatile Vision-Language Model for Understanding,</a:t>
            </a:r>
          </a:p>
          <a:p>
            <a:r>
              <a:rPr lang="en-US" sz="1200" dirty="0"/>
              <a:t> Localization, Text Reading, and Beyond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E8698E-B8BE-822D-313B-55156C92E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Qwen-VL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0B40313E-A53E-0550-CD03-348572C6F9F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1" y="882254"/>
            <a:ext cx="3780526" cy="982932"/>
          </a:xfrm>
        </p:spPr>
        <p:txBody>
          <a:bodyPr/>
          <a:lstStyle/>
          <a:p>
            <a:r>
              <a:rPr lang="fr-FR" dirty="0"/>
              <a:t>- </a:t>
            </a:r>
            <a:r>
              <a:rPr lang="fr-FR" b="1" dirty="0"/>
              <a:t>**Authors:**</a:t>
            </a:r>
            <a:r>
              <a:rPr lang="fr-FR" dirty="0"/>
              <a:t> Jinze Bai et al.</a:t>
            </a:r>
          </a:p>
          <a:p>
            <a:r>
              <a:rPr lang="en-US" dirty="0"/>
              <a:t>- </a:t>
            </a:r>
            <a:r>
              <a:rPr lang="en-US" b="1" dirty="0"/>
              <a:t>**Base Model:**</a:t>
            </a:r>
            <a:r>
              <a:rPr lang="en-US" dirty="0"/>
              <a:t> Qwen-LM</a:t>
            </a:r>
          </a:p>
          <a:p>
            <a:r>
              <a:rPr lang="en-US" dirty="0"/>
              <a:t>- </a:t>
            </a:r>
            <a:r>
              <a:rPr lang="en-US" b="1" dirty="0"/>
              <a:t>**Year:** </a:t>
            </a:r>
            <a:r>
              <a:rPr lang="en-US" dirty="0"/>
              <a:t>2023</a:t>
            </a:r>
          </a:p>
          <a:p>
            <a:endParaRPr lang="ar-S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08436B-EA4B-30CA-FF7B-50C17BE5FF11}"/>
              </a:ext>
            </a:extLst>
          </p:cNvPr>
          <p:cNvSpPr txBox="1"/>
          <p:nvPr/>
        </p:nvSpPr>
        <p:spPr>
          <a:xfrm>
            <a:off x="526442" y="1952654"/>
            <a:ext cx="511822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Problem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How to achieve fine-grained visual understanding?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Key Idea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Connect visual features to Qwen-LM and train for diverse visual tasks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Architecture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Vision Encoder + Visual Receptor + Qwen-LM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Contribution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OCR, Grounding, Localization and Visual Chat</a:t>
            </a:r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Limitation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Larger and more complex than lightweight VLMs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9772C-87A7-A012-05E5-68B30A78257F}"/>
              </a:ext>
            </a:extLst>
          </p:cNvPr>
          <p:cNvSpPr txBox="1"/>
          <p:nvPr/>
        </p:nvSpPr>
        <p:spPr>
          <a:xfrm>
            <a:off x="6084277" y="1521409"/>
            <a:ext cx="1840523" cy="350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+mj-lt"/>
              </a:rPr>
              <a:t>Image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+mj-lt"/>
              </a:rPr>
              <a:t>  </a:t>
            </a:r>
          </a:p>
          <a:p>
            <a:pPr algn="ctr">
              <a:lnSpc>
                <a:spcPts val="1425"/>
              </a:lnSpc>
              <a:buNone/>
            </a:pPr>
            <a:endParaRPr lang="en-US" sz="1400" b="0" dirty="0">
              <a:solidFill>
                <a:srgbClr val="BBBEBF"/>
              </a:solidFill>
              <a:effectLst/>
              <a:latin typeface="+mj-lt"/>
            </a:endParaRPr>
          </a:p>
          <a:p>
            <a:pPr algn="ctr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+mj-lt"/>
              </a:rPr>
              <a:t>Vision Encoder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+mj-lt"/>
              </a:rPr>
              <a:t>  </a:t>
            </a:r>
          </a:p>
          <a:p>
            <a:pPr algn="ctr">
              <a:lnSpc>
                <a:spcPts val="1425"/>
              </a:lnSpc>
              <a:buNone/>
            </a:pPr>
            <a:endParaRPr lang="en-US" sz="1400" b="0" dirty="0">
              <a:solidFill>
                <a:srgbClr val="BBBEBF"/>
              </a:solidFill>
              <a:effectLst/>
              <a:latin typeface="+mj-lt"/>
            </a:endParaRPr>
          </a:p>
          <a:p>
            <a:pPr algn="ctr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+mj-lt"/>
              </a:rPr>
              <a:t>Visual Features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+mj-lt"/>
              </a:rPr>
              <a:t>  </a:t>
            </a:r>
          </a:p>
          <a:p>
            <a:pPr algn="ctr">
              <a:lnSpc>
                <a:spcPts val="1425"/>
              </a:lnSpc>
              <a:buNone/>
            </a:pPr>
            <a:endParaRPr lang="en-US" sz="1400" b="0" dirty="0">
              <a:solidFill>
                <a:srgbClr val="BBBEBF"/>
              </a:solidFill>
              <a:effectLst/>
              <a:latin typeface="+mj-lt"/>
            </a:endParaRPr>
          </a:p>
          <a:p>
            <a:pPr algn="ctr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+mj-lt"/>
              </a:rPr>
              <a:t>Visual Receptor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+mj-lt"/>
              </a:rPr>
              <a:t>  </a:t>
            </a:r>
          </a:p>
          <a:p>
            <a:pPr algn="ctr">
              <a:lnSpc>
                <a:spcPts val="1425"/>
              </a:lnSpc>
              <a:buNone/>
            </a:pPr>
            <a:endParaRPr lang="en-US" sz="1400" b="0" dirty="0">
              <a:solidFill>
                <a:srgbClr val="BBBEBF"/>
              </a:solidFill>
              <a:effectLst/>
              <a:latin typeface="+mj-lt"/>
            </a:endParaRPr>
          </a:p>
          <a:p>
            <a:pPr algn="ctr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+mj-lt"/>
              </a:rPr>
              <a:t>Visual Tokens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+mj-lt"/>
              </a:rPr>
              <a:t>  </a:t>
            </a:r>
          </a:p>
          <a:p>
            <a:pPr algn="ctr">
              <a:lnSpc>
                <a:spcPts val="1425"/>
              </a:lnSpc>
              <a:buNone/>
            </a:pPr>
            <a:endParaRPr lang="en-US" sz="1400" b="0" dirty="0">
              <a:solidFill>
                <a:srgbClr val="BBBEBF"/>
              </a:solidFill>
              <a:effectLst/>
              <a:latin typeface="+mj-lt"/>
            </a:endParaRPr>
          </a:p>
          <a:p>
            <a:pPr algn="ctr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+mj-lt"/>
              </a:rPr>
              <a:t>Qwen-LM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+mj-lt"/>
              </a:rPr>
              <a:t>  </a:t>
            </a:r>
          </a:p>
          <a:p>
            <a:pPr algn="ctr">
              <a:lnSpc>
                <a:spcPts val="1425"/>
              </a:lnSpc>
              <a:buNone/>
            </a:pPr>
            <a:endParaRPr lang="en-US" sz="1400" b="0" dirty="0">
              <a:solidFill>
                <a:srgbClr val="BBBEBF"/>
              </a:solidFill>
              <a:effectLst/>
              <a:latin typeface="+mj-lt"/>
            </a:endParaRPr>
          </a:p>
          <a:p>
            <a:pPr algn="ctr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+mj-lt"/>
              </a:rPr>
              <a:t>Text Output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4CC858B8-E817-3E34-F1C1-82DB67E23BE5}"/>
              </a:ext>
            </a:extLst>
          </p:cNvPr>
          <p:cNvSpPr/>
          <p:nvPr/>
        </p:nvSpPr>
        <p:spPr>
          <a:xfrm>
            <a:off x="6940061" y="1765085"/>
            <a:ext cx="128953" cy="292316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A32CCE0A-A45E-E715-2725-3932B0117F84}"/>
              </a:ext>
            </a:extLst>
          </p:cNvPr>
          <p:cNvSpPr/>
          <p:nvPr/>
        </p:nvSpPr>
        <p:spPr>
          <a:xfrm>
            <a:off x="6934198" y="2301077"/>
            <a:ext cx="128953" cy="292316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6D35837-BD03-6F04-BBFA-1F8E04373E1B}"/>
              </a:ext>
            </a:extLst>
          </p:cNvPr>
          <p:cNvSpPr/>
          <p:nvPr/>
        </p:nvSpPr>
        <p:spPr>
          <a:xfrm>
            <a:off x="6934198" y="2837069"/>
            <a:ext cx="128953" cy="292316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3DB9811-5765-1B87-9EAA-6CC13775BB09}"/>
              </a:ext>
            </a:extLst>
          </p:cNvPr>
          <p:cNvSpPr/>
          <p:nvPr/>
        </p:nvSpPr>
        <p:spPr>
          <a:xfrm>
            <a:off x="6934198" y="3392636"/>
            <a:ext cx="128953" cy="292316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1A75A4D2-2550-5459-91EC-4492508BE26A}"/>
              </a:ext>
            </a:extLst>
          </p:cNvPr>
          <p:cNvSpPr/>
          <p:nvPr/>
        </p:nvSpPr>
        <p:spPr>
          <a:xfrm>
            <a:off x="6934198" y="3885069"/>
            <a:ext cx="128953" cy="292316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334D88E2-F4B8-B7C5-8FAB-F9B9585F74D6}"/>
              </a:ext>
            </a:extLst>
          </p:cNvPr>
          <p:cNvSpPr/>
          <p:nvPr/>
        </p:nvSpPr>
        <p:spPr>
          <a:xfrm>
            <a:off x="6934198" y="4430327"/>
            <a:ext cx="128953" cy="292316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3997155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78618D0-8810-1C7A-5ED2-4A71A94C7E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400" dirty="0"/>
              <a:t>Scaling up Vision Foundation Models and</a:t>
            </a:r>
          </a:p>
          <a:p>
            <a:r>
              <a:rPr lang="en-US" sz="1400" dirty="0"/>
              <a:t> Aligning for Generic Visual-Linguistic Tasks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52AF1C-EE98-B903-B897-2291553A2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InternVL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EEAE76D-DCE4-4A5D-2EBC-C8D0CF76D9C7}"/>
              </a:ext>
            </a:extLst>
          </p:cNvPr>
          <p:cNvSpPr txBox="1">
            <a:spLocks/>
          </p:cNvSpPr>
          <p:nvPr/>
        </p:nvSpPr>
        <p:spPr>
          <a:xfrm>
            <a:off x="404611" y="882255"/>
            <a:ext cx="3780526" cy="9829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04771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0" i="0" u="none" strike="noStrike" kern="1200" cap="none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  <a:sym typeface="Arial"/>
              </a:defRPr>
            </a:lvl1pPr>
            <a:lvl2pPr marL="685766" marR="0" lvl="1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028649" marR="0" lvl="2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532" marR="0" lvl="3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714415" marR="0" lvl="4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057297" marR="0" lvl="5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00180" marR="0" lvl="6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743064" marR="0" lvl="7" indent="-23811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085946" marR="0" lvl="8" indent="-238113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Arial"/>
              <a:buChar char="■"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- </a:t>
            </a:r>
            <a:r>
              <a:rPr lang="en-US" b="1" dirty="0"/>
              <a:t>**Authors:**</a:t>
            </a:r>
            <a:r>
              <a:rPr lang="en-US" dirty="0"/>
              <a:t> Zhe Chen et al.</a:t>
            </a:r>
          </a:p>
          <a:p>
            <a:r>
              <a:rPr lang="en-US" dirty="0"/>
              <a:t>- </a:t>
            </a:r>
            <a:r>
              <a:rPr lang="en-US" b="1" dirty="0"/>
              <a:t>**Conference:**</a:t>
            </a:r>
            <a:r>
              <a:rPr lang="en-US" dirty="0"/>
              <a:t> CVPR 2024</a:t>
            </a:r>
          </a:p>
          <a:p>
            <a:pPr defTabSz="914400"/>
            <a:r>
              <a:rPr lang="en-US" dirty="0"/>
              <a:t>- </a:t>
            </a:r>
            <a:r>
              <a:rPr lang="en-US" b="1" dirty="0"/>
              <a:t>**Year:** </a:t>
            </a:r>
            <a:r>
              <a:rPr lang="en-US" dirty="0"/>
              <a:t>2024</a:t>
            </a:r>
          </a:p>
          <a:p>
            <a:pPr defTabSz="914400"/>
            <a:endParaRPr lang="en-US" dirty="0"/>
          </a:p>
          <a:p>
            <a:pPr defTabSz="914400"/>
            <a:endParaRPr lang="ar-S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13EABE-C9D6-749C-C241-F2C6D4F227D5}"/>
              </a:ext>
            </a:extLst>
          </p:cNvPr>
          <p:cNvSpPr txBox="1"/>
          <p:nvPr/>
        </p:nvSpPr>
        <p:spPr>
          <a:xfrm>
            <a:off x="468923" y="1986371"/>
            <a:ext cx="54007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Problem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How can we improve visual understanding by scaling the vision component?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Key Idea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Scale up the Vision Encoder and align it with an LLM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Architecture</a:t>
            </a:r>
          </a:p>
          <a:p>
            <a:pPr algn="ctr"/>
            <a:r>
              <a:rPr lang="en-US" sz="1200" dirty="0" err="1">
                <a:solidFill>
                  <a:schemeClr val="bg1"/>
                </a:solidFill>
              </a:rPr>
              <a:t>InternViT</a:t>
            </a:r>
            <a:r>
              <a:rPr lang="en-US" sz="1200" dirty="0">
                <a:solidFill>
                  <a:schemeClr val="bg1"/>
                </a:solidFill>
              </a:rPr>
              <a:t> + MLP Projector + LLM</a:t>
            </a:r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Contribution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Strong Visual-Linguistic Understanding</a:t>
            </a:r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Limitation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High computational and hardware requirements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86C08-7D85-103B-4216-131EECB4AE56}"/>
              </a:ext>
            </a:extLst>
          </p:cNvPr>
          <p:cNvSpPr txBox="1"/>
          <p:nvPr/>
        </p:nvSpPr>
        <p:spPr>
          <a:xfrm>
            <a:off x="6068964" y="1842742"/>
            <a:ext cx="2424405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Image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 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 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InternViT-6B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 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 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Visual Features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 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 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MLP Projector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 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 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Visual Tokens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 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 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800" b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+mj-lt"/>
              </a:rPr>
              <a:t>LLM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0F2FA14-05CF-0F8A-6FF7-0B4EF4F6C8F7}"/>
              </a:ext>
            </a:extLst>
          </p:cNvPr>
          <p:cNvSpPr/>
          <p:nvPr/>
        </p:nvSpPr>
        <p:spPr>
          <a:xfrm>
            <a:off x="7187381" y="2074985"/>
            <a:ext cx="187570" cy="3106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EBE7471-90AC-EC06-7547-3A0B7C5DC8AD}"/>
              </a:ext>
            </a:extLst>
          </p:cNvPr>
          <p:cNvSpPr/>
          <p:nvPr/>
        </p:nvSpPr>
        <p:spPr>
          <a:xfrm>
            <a:off x="7187381" y="2571750"/>
            <a:ext cx="187570" cy="3106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FC23B2F-9F6F-617B-40A8-FB40483FEDD1}"/>
              </a:ext>
            </a:extLst>
          </p:cNvPr>
          <p:cNvSpPr/>
          <p:nvPr/>
        </p:nvSpPr>
        <p:spPr>
          <a:xfrm>
            <a:off x="7187381" y="3138726"/>
            <a:ext cx="187570" cy="3106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E470585-4DCF-0E7B-3339-93A4CFEFDC84}"/>
              </a:ext>
            </a:extLst>
          </p:cNvPr>
          <p:cNvSpPr/>
          <p:nvPr/>
        </p:nvSpPr>
        <p:spPr>
          <a:xfrm>
            <a:off x="7187381" y="3673704"/>
            <a:ext cx="187570" cy="3106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0637EBC3-EAB9-78E2-C275-21BFE30F0E3D}"/>
              </a:ext>
            </a:extLst>
          </p:cNvPr>
          <p:cNvSpPr/>
          <p:nvPr/>
        </p:nvSpPr>
        <p:spPr>
          <a:xfrm>
            <a:off x="7187381" y="4208682"/>
            <a:ext cx="187570" cy="3106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28931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E07AD6-D398-E2D8-8390-1AC10EBC1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F08509-BF13-7E09-C262-8ADEF09A0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562376"/>
              </p:ext>
            </p:extLst>
          </p:nvPr>
        </p:nvGraphicFramePr>
        <p:xfrm>
          <a:off x="949568" y="738553"/>
          <a:ext cx="7565780" cy="3921370"/>
        </p:xfrm>
        <a:graphic>
          <a:graphicData uri="http://schemas.openxmlformats.org/drawingml/2006/table">
            <a:tbl>
              <a:tblPr firstRow="1" firstCol="1">
                <a:tableStyleId>{69C7853C-536D-4A76-A0AE-DD22124D55A5}</a:tableStyleId>
              </a:tblPr>
              <a:tblGrid>
                <a:gridCol w="1891445">
                  <a:extLst>
                    <a:ext uri="{9D8B030D-6E8A-4147-A177-3AD203B41FA5}">
                      <a16:colId xmlns:a16="http://schemas.microsoft.com/office/drawing/2014/main" val="1225295302"/>
                    </a:ext>
                  </a:extLst>
                </a:gridCol>
                <a:gridCol w="1891445">
                  <a:extLst>
                    <a:ext uri="{9D8B030D-6E8A-4147-A177-3AD203B41FA5}">
                      <a16:colId xmlns:a16="http://schemas.microsoft.com/office/drawing/2014/main" val="2961452977"/>
                    </a:ext>
                  </a:extLst>
                </a:gridCol>
                <a:gridCol w="1891445">
                  <a:extLst>
                    <a:ext uri="{9D8B030D-6E8A-4147-A177-3AD203B41FA5}">
                      <a16:colId xmlns:a16="http://schemas.microsoft.com/office/drawing/2014/main" val="1754134016"/>
                    </a:ext>
                  </a:extLst>
                </a:gridCol>
                <a:gridCol w="1891445">
                  <a:extLst>
                    <a:ext uri="{9D8B030D-6E8A-4147-A177-3AD203B41FA5}">
                      <a16:colId xmlns:a16="http://schemas.microsoft.com/office/drawing/2014/main" val="3292965620"/>
                    </a:ext>
                  </a:extLst>
                </a:gridCol>
              </a:tblGrid>
              <a:tr h="324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Main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Key Mechanism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Main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011593"/>
                  </a:ext>
                </a:extLst>
              </a:tr>
              <a:tr h="530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CLIP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How can vision and language be aligned?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Dual Encoder + </a:t>
                      </a:r>
                    </a:p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Contrastive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Zero-Shot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615745"/>
                  </a:ext>
                </a:extLst>
              </a:tr>
              <a:tr h="7370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Flamingo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How can pretrained vision and language models interact?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Resampler</a:t>
                      </a: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 + </a:t>
                      </a:r>
                    </a:p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Cross-Attention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Few-Shot Multimodal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81969"/>
                  </a:ext>
                </a:extLst>
              </a:tr>
              <a:tr h="530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BLIP-2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How can this connection be made more efficiently?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Q-Former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Efficient VLM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750341"/>
                  </a:ext>
                </a:extLst>
              </a:tr>
              <a:tr h="530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LLaVA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How can a VLM follow user instructions?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Vision Projection + LLM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Visual Chat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67950"/>
                  </a:ext>
                </a:extLst>
              </a:tr>
              <a:tr h="7370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Qwen-VL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How can a VLM understand fine-grained visual information?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Visual Receptor + LLM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OCR / Grounding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43477"/>
                  </a:ext>
                </a:extLst>
              </a:tr>
              <a:tr h="530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InternVL</a:t>
                      </a:r>
                      <a:endParaRPr lang="en-US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How far can visual capability be scaled?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Large Vision Encoder + Alignment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Strong Visual Understanding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92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792647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F1ECB0-18BD-4FA1-91BE-AE1A1113DE1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76462" y="535940"/>
            <a:ext cx="4791075" cy="64611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  <p:pic>
        <p:nvPicPr>
          <p:cNvPr id="6" name="Graphic 5" descr="Email with solid fill">
            <a:extLst>
              <a:ext uri="{FF2B5EF4-FFF2-40B4-BE49-F238E27FC236}">
                <a16:creationId xmlns:a16="http://schemas.microsoft.com/office/drawing/2014/main" id="{21BD309E-BA27-4490-BF9C-0C19B0C48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0544" y="2742864"/>
            <a:ext cx="358517" cy="358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06EEFA-3207-48A7-88E8-EA57343BA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9" y="1467773"/>
            <a:ext cx="923363" cy="1103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AEEC1B-9C1E-4DCD-A4D6-2BDFE07E8B9B}"/>
              </a:ext>
            </a:extLst>
          </p:cNvPr>
          <p:cNvSpPr txBox="1"/>
          <p:nvPr/>
        </p:nvSpPr>
        <p:spPr>
          <a:xfrm>
            <a:off x="2709803" y="1604262"/>
            <a:ext cx="2624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About me: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Sayed Mostafa </a:t>
            </a:r>
            <a:r>
              <a:rPr lang="en-US" sz="12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Modaghegh</a:t>
            </a:r>
            <a:endParaRPr lang="en-US" sz="1200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AI and Robotics student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Computer vision developer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AF9A0-62AD-4B9F-B813-9D8E0C3C1A63}"/>
              </a:ext>
            </a:extLst>
          </p:cNvPr>
          <p:cNvSpPr txBox="1"/>
          <p:nvPr/>
        </p:nvSpPr>
        <p:spPr>
          <a:xfrm>
            <a:off x="2889061" y="2814700"/>
            <a:ext cx="35864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Sm.mostafa79modaqeq@gmail.com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C05FC8-A469-4BBE-9682-7B46D9FABA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874" y="3258944"/>
            <a:ext cx="300083" cy="3000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649A78-2575-431A-BE3D-C202F6A2EF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5230" y="3258944"/>
            <a:ext cx="300082" cy="3000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58B7FC-0C15-45FB-B572-124390E4AA47}"/>
              </a:ext>
            </a:extLst>
          </p:cNvPr>
          <p:cNvSpPr txBox="1"/>
          <p:nvPr/>
        </p:nvSpPr>
        <p:spPr>
          <a:xfrm>
            <a:off x="3174140" y="3258944"/>
            <a:ext cx="30163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@mostafa_modaghegh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3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7" grpId="0"/>
    </p:bldLst>
  </p:timing>
</p:sld>
</file>

<file path=ppt/theme/theme1.xml><?xml version="1.0" encoding="utf-8"?>
<a:theme xmlns:a="http://schemas.openxmlformats.org/drawingml/2006/main" name="Futuristic Background by Slidesgo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6682</TotalTime>
  <Words>1164</Words>
  <Application>Microsoft Office PowerPoint</Application>
  <PresentationFormat>On-screen Show (16:9)</PresentationFormat>
  <Paragraphs>341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Aharoni</vt:lpstr>
      <vt:lpstr>Arial Black</vt:lpstr>
      <vt:lpstr>Aptos Narrow</vt:lpstr>
      <vt:lpstr>Consolas</vt:lpstr>
      <vt:lpstr>Aptos</vt:lpstr>
      <vt:lpstr>Montserrat ExtraLight</vt:lpstr>
      <vt:lpstr>Wingdings</vt:lpstr>
      <vt:lpstr>Montserrat</vt:lpstr>
      <vt:lpstr>Arial</vt:lpstr>
      <vt:lpstr>Montserrat ExtraBold</vt:lpstr>
      <vt:lpstr>Courier New</vt:lpstr>
      <vt:lpstr>Khmer UI</vt:lpstr>
      <vt:lpstr>Posterama</vt:lpstr>
      <vt:lpstr>Futuristic Background by Slidesgo</vt:lpstr>
      <vt:lpstr>VLM</vt:lpstr>
      <vt:lpstr>Introduction</vt:lpstr>
      <vt:lpstr>Computer Vision</vt:lpstr>
      <vt:lpstr>Natural Language Processing</vt:lpstr>
      <vt:lpstr>Tokenization</vt:lpstr>
      <vt:lpstr>Embeddings</vt:lpstr>
      <vt:lpstr>RNN</vt:lpstr>
      <vt:lpstr>LSTM</vt:lpstr>
      <vt:lpstr>Transformer</vt:lpstr>
      <vt:lpstr>Transformer</vt:lpstr>
      <vt:lpstr>LLM</vt:lpstr>
      <vt:lpstr>CLIP</vt:lpstr>
      <vt:lpstr>Flamingo</vt:lpstr>
      <vt:lpstr>BLIP-2</vt:lpstr>
      <vt:lpstr>LLaVA</vt:lpstr>
      <vt:lpstr>Qwen-VL</vt:lpstr>
      <vt:lpstr>InternVL</vt:lpstr>
      <vt:lpstr>Model Comparison</vt:lpstr>
      <vt:lpstr>Thank You</vt:lpstr>
    </vt:vector>
  </TitlesOfParts>
  <Manager>Mortaza Nabavi</Manager>
  <Company>Gharjistan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Circuits</dc:title>
  <dc:subject>Logic Circuits</dc:subject>
  <dc:creator>Mortaza Nabavi</dc:creator>
  <cp:keywords>Logic Circuits</cp:keywords>
  <cp:lastModifiedBy>Mostafa Modaqeq</cp:lastModifiedBy>
  <cp:revision>268</cp:revision>
  <dcterms:created xsi:type="dcterms:W3CDTF">2024-12-02T14:00:11Z</dcterms:created>
  <dcterms:modified xsi:type="dcterms:W3CDTF">2026-08-17T09:24:21Z</dcterms:modified>
  <cp:category>Logic Circuits</cp:category>
</cp:coreProperties>
</file>